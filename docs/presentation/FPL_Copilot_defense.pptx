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embeddedFontLst>
    <p:embeddedFont>
      <p:font typeface="JetBrains Mono" panose="02000009000000000000" pitchFamily="49" charset="0"/>
      <p:regular r:id="rId18"/>
    </p:embeddedFont>
    <p:embeddedFont>
      <p:font typeface="Manrope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43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«Помощник для фэнтези-футбола: читает новости о травмах, считает ожидаемые очки, подбирает состав»
Главное: ни одну цифру в ответе не придумывает языковая модель
~20 секунд, сразу к проблеме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FPL — официальная фэнтези-игра Премьер-лиги, ~11 млн менеджеров
Собираешь 15 реальных игроков — они приносят очки за свои матчи
Каждый тур — дедлайн: трансферы, капитан, порядок скамейки
На картинке — поле из нашего приложения: соперник и прогноз очков под каждым игроком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каждым дедлайном: новости о травмах и ротации, форма игроков, разбор прошлого тура, план на несколько туров
Всё разбросано по сайтам, пресс-конференциям и таблицам — до дедлайна просто не хватает времени
ChatGPT не спасает: не знает ваш состав и уверенно выдумывает цифры
Переход: «FPL Copilot делает эту работу за вас — и объясняет каждый ход»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здесь — переводчик между человеком и расчётами
Три детерминированных ядра: модель xPts, MILP-оптимизатор, новостной сигнал с цитатами
Если модель вписала число не из фактов — одна перегенерация, затем видимая оговорка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Стартовая страница — Брифинг: главный трансфер и капитан
«К дедлайну» — пошаговый план: что сделать и почему
Правило «ценный актив»: травмированную звезду не продаём, выкуп дороже
Переход: «сейчас покажу вживую»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Сайт, чат и MCP вызывают одни и те же функции LiveTools — числа везде совпадают
Оранжевое — вызовы LLM, синее — код, жёлтое — остановка для человека
Заменяемые части: источник силы соперников (рейтинги / коэффициенты), reranker, версии промптов
Сознательный coupling: один провайдер LLM (OpenAI SDK ради строгих JSON-схем)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LangGraph: условные рёбра, цикл с лимитом и interrupt_before с чекпоинтером SQLite
CrewAI — ролевые «команды агентов», у нас один агент; свой автомат не дал бы resume из другого процесса
Граф справа сгенерирован кодом (draw_mermaid), это не рисунок
После расчёта узел candidate_news читает новости о покупках; травмирована — один пересчёт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xPts v0: минуты × ставки за 90 минут × сила соперника, со сжатием к приорам; без LLM и без ML-обучения
MILP выдаёт только допустимые составы; жадный алгоритм не гарантирует бюджет и квоты клубов
На скриншоте: план на 5 туров — +25.5 очка против «ничего не менять»
Стратегия (осторожная / сбалансированная / агрессивная) меняет числа в цели, а не тон текста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Заголовок статьи в каждом абзаце, иначе «he trained fully» ни о ком
pgvector: запрет смотреть в будущее — одно условие published_at ≤ as_of в SQL; эмбеддинги text-embedding-3-small
Reranker flashrank локально на CPU: +4 п.п. recall@8, без сети и денег
Нет упоминаний игрока → «неизвестно» без вызова модели: 4/4, 0 ложных отказов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MCP: те же функции, что в приложении; ошибки всегда {error, hint}, сервер не падает
Skill полезнее промпта: фиксирует порядок вызовов и запреты
Vision: detail=high — 15/15; detail=low в 4.5× дешевле, но подменил игрока (Virgil → Livramento) — отклонён
Честно: на реальном скриншоте FPL ещё не проверяли, только на эталонных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Golden: 27 игроков, 18 поисковых запросов, 10 вопросов по правилам, 60 + 15 вопросов чата
A/B #1: rerank лучше по поиску (recall@8 0.837 против 0.794), но не по точности сигнала
A/B #4: form_notes отклонён — точность 25 → 23 из 27
Чего метрики не показывают: n = 27 не различает изменения &lt; ~10 п.п.; faithfulness ≠ правда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Сравнивали на тех же промптах и golden: gpt-5.4-mini чуть точнее — кандидат на апгрейд при 5.7× цене
Reasoning-модели: нет управления temperature, цена непредсказуема
Объяснитель: с 1-й попытки проходит валидатор 0.92 при T = 0 против 0.79 при 0.2
Если спросят про fallback — честно: спроектирован, но не реализован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трейс одного вопроса из чата: каждый узел графа — отдельный шаг
Модель вызывалась дважды — в router и в explain; остальные узлы — код, доли секунды
У объяснителя видно модель gpt-4o-mini, версию промпта v4, токены, цену и время
Валидатор принял ответ с первой попытки (explain_attempts =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гипотезы со старта, которые не подтвердились, — и что мы из этого поняли
Главное: LLM полезна там, где её ответ проверяет код
Дальше — RAG по похожим игровым ситуациям: искать не статью об игроке, а экспертный разбор той же дилеммы («продать травмированного или держать») и объяснять, что из него применимо; числа по-прежнему от оптимизатора
Почему не сейчас: нет корпуса «ситуация → разбор → исход», каждый кейс надо сверить вручную и нужен eval «с кейсами / без»
«Спасибо, готов к вопросам»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вызывается дважды: понять вопрос (router) и объяснить ответ (explain); остальное — код
На демо-прогоне этот вопрос: 6.5 с, $0.0012; решение — продавать Palmer можно, но не обязательно
Что удешевляет: ветки без LLM (отказ, уточнение), кэш сигналов 12 ч, gpt-4o-mini вместо флагмана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72250" y="-1238250"/>
            <a:ext cx="4667250" cy="4667250"/>
          </a:xfrm>
          <a:prstGeom prst="ellipse">
            <a:avLst/>
          </a:prstGeom>
          <a:solidFill>
            <a:srgbClr val="12334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750" y="1762125"/>
            <a:ext cx="1619250" cy="1619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28900" y="1866900"/>
            <a:ext cx="3376613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29"/>
              </a:lnSpc>
              <a:buNone/>
            </a:pPr>
            <a:r>
              <a:rPr lang="en-US" sz="4560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4560" dirty="0"/>
          </a:p>
        </p:txBody>
      </p:sp>
      <p:sp>
        <p:nvSpPr>
          <p:cNvPr id="6" name="Text 2"/>
          <p:cNvSpPr/>
          <p:nvPr/>
        </p:nvSpPr>
        <p:spPr>
          <a:xfrm>
            <a:off x="2667000" y="2695575"/>
            <a:ext cx="5715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4"/>
              </a:lnSpc>
              <a:buNone/>
            </a:pPr>
            <a:r>
              <a:rPr lang="en-US" sz="1496" dirty="0">
                <a:solidFill>
                  <a:srgbClr val="CFE3EE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Помощник менеджера Fantasy Premier League</a:t>
            </a:r>
            <a:endParaRPr lang="en-US" sz="1496" dirty="0"/>
          </a:p>
        </p:txBody>
      </p:sp>
      <p:sp>
        <p:nvSpPr>
          <p:cNvPr id="7" name="Text 3"/>
          <p:cNvSpPr/>
          <p:nvPr/>
        </p:nvSpPr>
        <p:spPr>
          <a:xfrm>
            <a:off x="2667000" y="3810000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3"/>
              </a:lnSpc>
              <a:buNone/>
            </a:pPr>
            <a:r>
              <a:rPr lang="en-US" sz="998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Zhanibek Kairgeldinov</a:t>
            </a:r>
            <a:endParaRPr lang="en-US" sz="998" dirty="0"/>
          </a:p>
        </p:txBody>
      </p:sp>
      <p:sp>
        <p:nvSpPr>
          <p:cNvPr id="8" name="Text 4"/>
          <p:cNvSpPr/>
          <p:nvPr/>
        </p:nvSpPr>
        <p:spPr>
          <a:xfrm>
            <a:off x="2667000" y="4029075"/>
            <a:ext cx="1362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5"/>
              </a:lnSpc>
              <a:buNone/>
            </a:pPr>
            <a:r>
              <a:rPr lang="en-US" sz="926" dirty="0">
                <a:solidFill>
                  <a:srgbClr val="7DD3F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fpl-copilot.duckdns.org</a:t>
            </a:r>
            <a:endParaRPr lang="en-US" sz="92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928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ТАКОЕ FPL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Фэнтези-футбол по реальной АПЛ</a:t>
            </a:r>
            <a:endParaRPr lang="en-US" sz="228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381125"/>
            <a:ext cx="4762500" cy="285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95950" y="1428750"/>
            <a:ext cx="2876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3"/>
              </a:lnSpc>
              <a:buNone/>
            </a:pPr>
            <a:r>
              <a:rPr lang="en-US" sz="1211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игроков · £100m</a:t>
            </a:r>
            <a:endParaRPr lang="en-US" sz="1211" dirty="0"/>
          </a:p>
        </p:txBody>
      </p:sp>
      <p:sp>
        <p:nvSpPr>
          <p:cNvPr id="7" name="Text 3"/>
          <p:cNvSpPr/>
          <p:nvPr/>
        </p:nvSpPr>
        <p:spPr>
          <a:xfrm>
            <a:off x="5695950" y="1652588"/>
            <a:ext cx="2876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вратаря, 5 защитников, 5 полузащитников, 3 нападающих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5562600" y="1428750"/>
            <a:ext cx="38100" cy="500063"/>
          </a:xfrm>
          <a:prstGeom prst="roundRect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5"/>
          <p:cNvSpPr/>
          <p:nvPr/>
        </p:nvSpPr>
        <p:spPr>
          <a:xfrm>
            <a:off x="5695950" y="2119313"/>
            <a:ext cx="2876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3"/>
              </a:lnSpc>
              <a:buNone/>
            </a:pPr>
            <a:r>
              <a:rPr lang="en-US" sz="1211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≤ 3 из одного клуба</a:t>
            </a:r>
            <a:endParaRPr lang="en-US" sz="1211" dirty="0"/>
          </a:p>
        </p:txBody>
      </p:sp>
      <p:sp>
        <p:nvSpPr>
          <p:cNvPr id="10" name="Text 6"/>
          <p:cNvSpPr/>
          <p:nvPr/>
        </p:nvSpPr>
        <p:spPr>
          <a:xfrm>
            <a:off x="5695950" y="2343150"/>
            <a:ext cx="28765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выходят в старт, 4 — на скамейке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5562600" y="2119313"/>
            <a:ext cx="38100" cy="361950"/>
          </a:xfrm>
          <a:prstGeom prst="roundRect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5695950" y="2671763"/>
            <a:ext cx="2876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3"/>
              </a:lnSpc>
              <a:buNone/>
            </a:pPr>
            <a:r>
              <a:rPr lang="en-US" sz="1211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трансфер в тур бесплатно</a:t>
            </a:r>
            <a:endParaRPr lang="en-US" sz="1211" dirty="0"/>
          </a:p>
        </p:txBody>
      </p:sp>
      <p:sp>
        <p:nvSpPr>
          <p:cNvPr id="13" name="Text 9"/>
          <p:cNvSpPr/>
          <p:nvPr/>
        </p:nvSpPr>
        <p:spPr>
          <a:xfrm>
            <a:off x="5695950" y="2895600"/>
            <a:ext cx="28765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лишний — минус 4 очка</a:t>
            </a:r>
            <a:endParaRPr lang="en-US" sz="784" dirty="0"/>
          </a:p>
        </p:txBody>
      </p:sp>
      <p:sp>
        <p:nvSpPr>
          <p:cNvPr id="14" name="Shape 10"/>
          <p:cNvSpPr/>
          <p:nvPr/>
        </p:nvSpPr>
        <p:spPr>
          <a:xfrm>
            <a:off x="5562600" y="2671763"/>
            <a:ext cx="38100" cy="361950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5695950" y="3224213"/>
            <a:ext cx="2876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3"/>
              </a:lnSpc>
              <a:buNone/>
            </a:pPr>
            <a:r>
              <a:rPr lang="en-US" sz="1211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Капитан ×2 · 4 фишки</a:t>
            </a:r>
            <a:endParaRPr lang="en-US" sz="1211" dirty="0"/>
          </a:p>
        </p:txBody>
      </p:sp>
      <p:sp>
        <p:nvSpPr>
          <p:cNvPr id="16" name="Text 12"/>
          <p:cNvSpPr/>
          <p:nvPr/>
        </p:nvSpPr>
        <p:spPr>
          <a:xfrm>
            <a:off x="5695950" y="3448050"/>
            <a:ext cx="2876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Wildcard, Free Hit, Bench Boost, Triple Captain — по два раза за сезон</a:t>
            </a:r>
            <a:endParaRPr lang="en-US" sz="784" dirty="0"/>
          </a:p>
        </p:txBody>
      </p:sp>
      <p:sp>
        <p:nvSpPr>
          <p:cNvPr id="17" name="Shape 13"/>
          <p:cNvSpPr/>
          <p:nvPr/>
        </p:nvSpPr>
        <p:spPr>
          <a:xfrm>
            <a:off x="5562600" y="3224213"/>
            <a:ext cx="38100" cy="500063"/>
          </a:xfrm>
          <a:prstGeom prst="round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4"/>
          <p:cNvSpPr/>
          <p:nvPr/>
        </p:nvSpPr>
        <p:spPr>
          <a:xfrm>
            <a:off x="571500" y="4371975"/>
            <a:ext cx="8001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Очки за реальные матчи: гол 4–6 · ассист 3 · сухой матч 4 · бонус до 3 · дедлайн за 90 минут до первого матча тура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20" name="Text 16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64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1704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КАКУЮ ПРОБЛЕМУ РЕШАЕМ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5" name="Text 2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641" dirty="0"/>
          </a:p>
        </p:txBody>
      </p:sp>
      <p:sp>
        <p:nvSpPr>
          <p:cNvPr id="6" name="Text 3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дедлайна нужно успеть слишком много</a:t>
            </a:r>
            <a:endParaRPr lang="en-US" sz="2280" dirty="0"/>
          </a:p>
        </p:txBody>
      </p:sp>
      <p:sp>
        <p:nvSpPr>
          <p:cNvPr id="7" name="Shape 4"/>
          <p:cNvSpPr/>
          <p:nvPr/>
        </p:nvSpPr>
        <p:spPr>
          <a:xfrm>
            <a:off x="571500" y="1428750"/>
            <a:ext cx="2000250" cy="1285875"/>
          </a:xfrm>
          <a:prstGeom prst="roundRect">
            <a:avLst>
              <a:gd name="adj" fmla="val 17067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723900" y="1571625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855" dirty="0"/>
          </a:p>
        </p:txBody>
      </p:sp>
      <p:sp>
        <p:nvSpPr>
          <p:cNvPr id="9" name="Text 6"/>
          <p:cNvSpPr/>
          <p:nvPr/>
        </p:nvSpPr>
        <p:spPr>
          <a:xfrm>
            <a:off x="723900" y="1771650"/>
            <a:ext cx="16954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Следить за новостями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723900" y="2171700"/>
            <a:ext cx="1695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травмы, ротация, пресс-конференции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667000" y="1428750"/>
            <a:ext cx="2000250" cy="1285875"/>
          </a:xfrm>
          <a:prstGeom prst="roundRect">
            <a:avLst>
              <a:gd name="adj" fmla="val 17067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2819400" y="1571625"/>
            <a:ext cx="14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55" dirty="0"/>
          </a:p>
        </p:txBody>
      </p:sp>
      <p:sp>
        <p:nvSpPr>
          <p:cNvPr id="13" name="Text 10"/>
          <p:cNvSpPr/>
          <p:nvPr/>
        </p:nvSpPr>
        <p:spPr>
          <a:xfrm>
            <a:off x="2819400" y="1771650"/>
            <a:ext cx="1695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Понимать форму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2819400" y="1995487"/>
            <a:ext cx="1695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кто забивает, xG, минуты, стандарты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571500" y="2809875"/>
            <a:ext cx="2000250" cy="1285875"/>
          </a:xfrm>
          <a:prstGeom prst="roundRect">
            <a:avLst>
              <a:gd name="adj" fmla="val 17067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723900" y="2952750"/>
            <a:ext cx="14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55" dirty="0"/>
          </a:p>
        </p:txBody>
      </p:sp>
      <p:sp>
        <p:nvSpPr>
          <p:cNvPr id="17" name="Text 14"/>
          <p:cNvSpPr/>
          <p:nvPr/>
        </p:nvSpPr>
        <p:spPr>
          <a:xfrm>
            <a:off x="723900" y="3152775"/>
            <a:ext cx="16954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Разобрать прошлый тур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723900" y="3552825"/>
            <a:ext cx="16954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кто как сыграл и почему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2667000" y="2809875"/>
            <a:ext cx="2000250" cy="1285875"/>
          </a:xfrm>
          <a:prstGeom prst="roundRect">
            <a:avLst>
              <a:gd name="adj" fmla="val 17067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2819400" y="2952750"/>
            <a:ext cx="147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55" dirty="0"/>
          </a:p>
        </p:txBody>
      </p:sp>
      <p:sp>
        <p:nvSpPr>
          <p:cNvPr id="21" name="Text 18"/>
          <p:cNvSpPr/>
          <p:nvPr/>
        </p:nvSpPr>
        <p:spPr>
          <a:xfrm>
            <a:off x="2819400" y="3152775"/>
            <a:ext cx="16954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Стратегия на 3–6 туров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2819400" y="3552825"/>
            <a:ext cx="1695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трансферы, капитан, когда играть фишку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62500" y="2667000"/>
            <a:ext cx="23336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6"/>
              </a:lnSpc>
              <a:buNone/>
            </a:pPr>
            <a:r>
              <a:rPr lang="en-US" sz="1710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71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48250" y="1428750"/>
            <a:ext cx="3524250" cy="19240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48250" y="34671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 сводит всё в один экран: главный ход, капитан, кого проверить до дедлайна</a:t>
            </a:r>
            <a:endParaRPr lang="en-US" sz="926" dirty="0"/>
          </a:p>
        </p:txBody>
      </p:sp>
      <p:sp>
        <p:nvSpPr>
          <p:cNvPr id="26" name="Shape 22"/>
          <p:cNvSpPr/>
          <p:nvPr/>
        </p:nvSpPr>
        <p:spPr>
          <a:xfrm>
            <a:off x="571500" y="4238625"/>
            <a:ext cx="8001000" cy="457200"/>
          </a:xfrm>
          <a:prstGeom prst="roundRect">
            <a:avLst>
              <a:gd name="adj" fmla="val 40000"/>
            </a:avLst>
          </a:prstGeom>
          <a:solidFill>
            <a:srgbClr val="0B253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3"/>
          <p:cNvSpPr/>
          <p:nvPr/>
        </p:nvSpPr>
        <p:spPr>
          <a:xfrm>
            <a:off x="781050" y="4376738"/>
            <a:ext cx="75819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Каждую неделю — одна и та же работа, а до дедлайна на неё не хватает времени</a:t>
            </a:r>
            <a:endParaRPr lang="en-US" sz="10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1247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ГЛАВНЫЙ ПРИНЦИП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1"/>
              </a:lnSpc>
              <a:buNone/>
            </a:pPr>
            <a:r>
              <a:rPr lang="en-US" sz="313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объясняет. Код считает.</a:t>
            </a:r>
            <a:endParaRPr lang="en-US" sz="3135" dirty="0"/>
          </a:p>
        </p:txBody>
      </p:sp>
      <p:sp>
        <p:nvSpPr>
          <p:cNvPr id="5" name="Shape 2"/>
          <p:cNvSpPr/>
          <p:nvPr/>
        </p:nvSpPr>
        <p:spPr>
          <a:xfrm>
            <a:off x="571500" y="1571625"/>
            <a:ext cx="3905250" cy="1905000"/>
          </a:xfrm>
          <a:prstGeom prst="roundRect">
            <a:avLst>
              <a:gd name="adj" fmla="val 13440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819150" y="1819275"/>
            <a:ext cx="1200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kern="0" spc="86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· GPT-4O-MINI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819150" y="2190750"/>
            <a:ext cx="3409950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94"/>
              </a:lnSpc>
              <a:buSzPct val="100000"/>
              <a:buChar char="•"/>
            </a:pPr>
            <a:r>
              <a:rPr lang="en-US" sz="149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понимает вопрос</a:t>
            </a:r>
            <a:endParaRPr lang="en-US" sz="1496" dirty="0"/>
          </a:p>
          <a:p>
            <a:pPr marL="342900" indent="-342900" algn="l">
              <a:lnSpc>
                <a:spcPts val="2394"/>
              </a:lnSpc>
              <a:buSzPct val="100000"/>
              <a:buChar char="•"/>
            </a:pPr>
            <a:r>
              <a:rPr lang="en-US" sz="149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извлекает факты из новостей</a:t>
            </a:r>
            <a:endParaRPr lang="en-US" sz="1496" dirty="0"/>
          </a:p>
          <a:p>
            <a:pPr marL="342900" indent="-342900" algn="l">
              <a:lnSpc>
                <a:spcPts val="2394"/>
              </a:lnSpc>
              <a:buSzPct val="100000"/>
              <a:buChar char="•"/>
            </a:pPr>
            <a:r>
              <a:rPr lang="en-US" sz="149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объясняет решение</a:t>
            </a:r>
            <a:endParaRPr lang="en-US" sz="1496" dirty="0"/>
          </a:p>
        </p:txBody>
      </p:sp>
      <p:sp>
        <p:nvSpPr>
          <p:cNvPr id="8" name="Shape 5"/>
          <p:cNvSpPr/>
          <p:nvPr/>
        </p:nvSpPr>
        <p:spPr>
          <a:xfrm>
            <a:off x="4667250" y="1571625"/>
            <a:ext cx="3905250" cy="1905000"/>
          </a:xfrm>
          <a:prstGeom prst="roundRect">
            <a:avLst>
              <a:gd name="adj" fmla="val 1344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4914900" y="1819275"/>
            <a:ext cx="26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kern="0" spc="86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855" dirty="0"/>
          </a:p>
        </p:txBody>
      </p:sp>
      <p:sp>
        <p:nvSpPr>
          <p:cNvPr id="10" name="Text 7"/>
          <p:cNvSpPr/>
          <p:nvPr/>
        </p:nvSpPr>
        <p:spPr>
          <a:xfrm>
            <a:off x="4914900" y="2190750"/>
            <a:ext cx="3409950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94"/>
              </a:lnSpc>
              <a:buSzPct val="100000"/>
              <a:buChar char="•"/>
            </a:pPr>
            <a:r>
              <a:rPr lang="en-US" sz="149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считает ожидаемые очки</a:t>
            </a:r>
            <a:endParaRPr lang="en-US" sz="1496" dirty="0"/>
          </a:p>
          <a:p>
            <a:pPr marL="342900" indent="-342900" algn="l">
              <a:lnSpc>
                <a:spcPts val="2394"/>
              </a:lnSpc>
              <a:buSzPct val="100000"/>
              <a:buChar char="•"/>
            </a:pPr>
            <a:r>
              <a:rPr lang="en-US" sz="149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подбирает состав и трансферы</a:t>
            </a:r>
            <a:endParaRPr lang="en-US" sz="1496" dirty="0"/>
          </a:p>
          <a:p>
            <a:pPr marL="342900" indent="-342900" algn="l">
              <a:lnSpc>
                <a:spcPts val="2394"/>
              </a:lnSpc>
              <a:buSzPct val="100000"/>
              <a:buChar char="•"/>
            </a:pPr>
            <a:r>
              <a:rPr lang="en-US" sz="149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проверяет каждое число</a:t>
            </a:r>
            <a:endParaRPr lang="en-US" sz="1496" dirty="0"/>
          </a:p>
        </p:txBody>
      </p:sp>
      <p:sp>
        <p:nvSpPr>
          <p:cNvPr id="11" name="Shape 8"/>
          <p:cNvSpPr/>
          <p:nvPr/>
        </p:nvSpPr>
        <p:spPr>
          <a:xfrm>
            <a:off x="571500" y="3676650"/>
            <a:ext cx="8001000" cy="495300"/>
          </a:xfrm>
          <a:prstGeom prst="roundRect">
            <a:avLst>
              <a:gd name="adj" fmla="val 36923"/>
            </a:avLst>
          </a:prstGeom>
          <a:solidFill>
            <a:srgbClr val="0B253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781050" y="3829050"/>
            <a:ext cx="75819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Валидатор сверяет каждое имя и число в ответе с расчётом — выдумка не проходит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14" name="Text 11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64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581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ПРОДУКТ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сделать до дедлайна — и почему</a:t>
            </a:r>
            <a:endParaRPr lang="en-US" sz="228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381125"/>
            <a:ext cx="5619750" cy="31289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4581525"/>
            <a:ext cx="19526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Страница «К дедлайну» · команда 2558291</a:t>
            </a:r>
            <a:endParaRPr lang="en-US" sz="713" dirty="0"/>
          </a:p>
        </p:txBody>
      </p:sp>
      <p:sp>
        <p:nvSpPr>
          <p:cNvPr id="7" name="Shape 3"/>
          <p:cNvSpPr/>
          <p:nvPr/>
        </p:nvSpPr>
        <p:spPr>
          <a:xfrm>
            <a:off x="6477000" y="1476375"/>
            <a:ext cx="38100" cy="528638"/>
          </a:xfrm>
          <a:prstGeom prst="roundRect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6648450" y="1476375"/>
            <a:ext cx="19240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продаём João Pedro</a:t>
            </a:r>
            <a:endParaRPr lang="en-US" sz="1140" dirty="0"/>
          </a:p>
        </p:txBody>
      </p:sp>
      <p:sp>
        <p:nvSpPr>
          <p:cNvPr id="9" name="Text 5"/>
          <p:cNvSpPr/>
          <p:nvPr/>
        </p:nvSpPr>
        <p:spPr>
          <a:xfrm>
            <a:off x="6648450" y="1709738"/>
            <a:ext cx="1924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855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здоровым даёт 5.5 очка за тур — больше, чем у 94 % нападающих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6477000" y="2390775"/>
            <a:ext cx="38100" cy="704850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7"/>
          <p:cNvSpPr/>
          <p:nvPr/>
        </p:nvSpPr>
        <p:spPr>
          <a:xfrm>
            <a:off x="6648450" y="2390775"/>
            <a:ext cx="19240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Продать £7.6 — выкупить £7.7</a:t>
            </a:r>
            <a:endParaRPr lang="en-US" sz="1140" dirty="0"/>
          </a:p>
        </p:txBody>
      </p:sp>
      <p:sp>
        <p:nvSpPr>
          <p:cNvPr id="12" name="Text 8"/>
          <p:cNvSpPr/>
          <p:nvPr/>
        </p:nvSpPr>
        <p:spPr>
          <a:xfrm>
            <a:off x="6648450" y="2800350"/>
            <a:ext cx="1924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855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травма короткая: после неё он подорожает</a:t>
            </a:r>
            <a:endParaRPr lang="en-US" sz="855" dirty="0"/>
          </a:p>
        </p:txBody>
      </p:sp>
      <p:sp>
        <p:nvSpPr>
          <p:cNvPr id="13" name="Shape 9"/>
          <p:cNvSpPr/>
          <p:nvPr/>
        </p:nvSpPr>
        <p:spPr>
          <a:xfrm>
            <a:off x="6477000" y="3476625"/>
            <a:ext cx="38100" cy="528638"/>
          </a:xfrm>
          <a:prstGeom prst="round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/>
          <p:nvPr/>
        </p:nvSpPr>
        <p:spPr>
          <a:xfrm>
            <a:off x="6648450" y="3476625"/>
            <a:ext cx="19240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Всё посчитано кодом</a:t>
            </a:r>
            <a:endParaRPr lang="en-US" sz="1140" dirty="0"/>
          </a:p>
        </p:txBody>
      </p:sp>
      <p:sp>
        <p:nvSpPr>
          <p:cNvPr id="15" name="Text 11"/>
          <p:cNvSpPr/>
          <p:nvPr/>
        </p:nvSpPr>
        <p:spPr>
          <a:xfrm>
            <a:off x="6648450" y="3709988"/>
            <a:ext cx="19240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855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шаги и цены — из оптимизатора, без LLM</a:t>
            </a:r>
            <a:endParaRPr lang="en-US" sz="855" dirty="0"/>
          </a:p>
        </p:txBody>
      </p:sp>
      <p:sp>
        <p:nvSpPr>
          <p:cNvPr id="16" name="Text 12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17" name="Text 13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64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876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АРХИТЕКТУРА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набор инструментов на три интерфейса</a:t>
            </a:r>
            <a:endParaRPr lang="en-US" sz="2280" dirty="0"/>
          </a:p>
        </p:txBody>
      </p:sp>
      <p:sp>
        <p:nvSpPr>
          <p:cNvPr id="5" name="Shape 2"/>
          <p:cNvSpPr/>
          <p:nvPr/>
        </p:nvSpPr>
        <p:spPr>
          <a:xfrm>
            <a:off x="571500" y="1524000"/>
            <a:ext cx="1714500" cy="2667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685800" y="1647825"/>
            <a:ext cx="14859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ИНТЕРФЕЙСЫ</a:t>
            </a:r>
            <a:endParaRPr lang="en-US" sz="641" dirty="0"/>
          </a:p>
        </p:txBody>
      </p:sp>
      <p:sp>
        <p:nvSpPr>
          <p:cNvPr id="7" name="Shape 4"/>
          <p:cNvSpPr/>
          <p:nvPr/>
        </p:nvSpPr>
        <p:spPr>
          <a:xfrm>
            <a:off x="666750" y="18859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762000" y="20050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Сайт · Streamlit</a:t>
            </a:r>
            <a:endParaRPr lang="en-US" sz="855" dirty="0"/>
          </a:p>
        </p:txBody>
      </p:sp>
      <p:sp>
        <p:nvSpPr>
          <p:cNvPr id="9" name="Shape 6"/>
          <p:cNvSpPr/>
          <p:nvPr/>
        </p:nvSpPr>
        <p:spPr>
          <a:xfrm>
            <a:off x="666750" y="23431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762000" y="24622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MCP-сервер</a:t>
            </a:r>
            <a:endParaRPr lang="en-US" sz="855" dirty="0"/>
          </a:p>
        </p:txBody>
      </p:sp>
      <p:sp>
        <p:nvSpPr>
          <p:cNvPr id="11" name="Shape 8"/>
          <p:cNvSpPr/>
          <p:nvPr/>
        </p:nvSpPr>
        <p:spPr>
          <a:xfrm>
            <a:off x="666750" y="28003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762000" y="29194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Скриншот → состав</a:t>
            </a:r>
            <a:endParaRPr lang="en-US" sz="855" dirty="0"/>
          </a:p>
        </p:txBody>
      </p:sp>
      <p:sp>
        <p:nvSpPr>
          <p:cNvPr id="13" name="Text 10"/>
          <p:cNvSpPr/>
          <p:nvPr/>
        </p:nvSpPr>
        <p:spPr>
          <a:xfrm>
            <a:off x="2343150" y="2667000"/>
            <a:ext cx="214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1"/>
              </a:lnSpc>
              <a:buNone/>
            </a:pPr>
            <a:r>
              <a:rPr lang="en-US" sz="1568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568" dirty="0"/>
          </a:p>
        </p:txBody>
      </p:sp>
      <p:sp>
        <p:nvSpPr>
          <p:cNvPr id="14" name="Shape 11"/>
          <p:cNvSpPr/>
          <p:nvPr/>
        </p:nvSpPr>
        <p:spPr>
          <a:xfrm>
            <a:off x="2667000" y="1524000"/>
            <a:ext cx="1714500" cy="2667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2781300" y="1647825"/>
            <a:ext cx="14859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АГЕНТ · LANGGRAPH</a:t>
            </a:r>
            <a:endParaRPr lang="en-US" sz="641" dirty="0"/>
          </a:p>
        </p:txBody>
      </p:sp>
      <p:sp>
        <p:nvSpPr>
          <p:cNvPr id="16" name="Shape 13"/>
          <p:cNvSpPr/>
          <p:nvPr/>
        </p:nvSpPr>
        <p:spPr>
          <a:xfrm>
            <a:off x="2762250" y="18859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2857500" y="2005013"/>
            <a:ext cx="13335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2762250" y="23431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2857500" y="24622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сигналы новостей</a:t>
            </a:r>
            <a:endParaRPr lang="en-US" sz="855" dirty="0"/>
          </a:p>
        </p:txBody>
      </p:sp>
      <p:sp>
        <p:nvSpPr>
          <p:cNvPr id="20" name="Shape 17"/>
          <p:cNvSpPr/>
          <p:nvPr/>
        </p:nvSpPr>
        <p:spPr>
          <a:xfrm>
            <a:off x="2762250" y="28003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2857500" y="2919413"/>
            <a:ext cx="13335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2762250" y="32575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FEF6E4"/>
          </a:solidFill>
          <a:ln w="9049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2857500" y="33766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подтверждение</a:t>
            </a:r>
            <a:endParaRPr lang="en-US" sz="855" dirty="0"/>
          </a:p>
        </p:txBody>
      </p:sp>
      <p:sp>
        <p:nvSpPr>
          <p:cNvPr id="24" name="Shape 21"/>
          <p:cNvSpPr/>
          <p:nvPr/>
        </p:nvSpPr>
        <p:spPr>
          <a:xfrm>
            <a:off x="2762250" y="37147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/>
          <p:nvPr/>
        </p:nvSpPr>
        <p:spPr>
          <a:xfrm>
            <a:off x="2857500" y="3833812"/>
            <a:ext cx="13335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 → validate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438650" y="2667000"/>
            <a:ext cx="214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1"/>
              </a:lnSpc>
              <a:buNone/>
            </a:pPr>
            <a:r>
              <a:rPr lang="en-US" sz="1568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568" dirty="0"/>
          </a:p>
        </p:txBody>
      </p:sp>
      <p:sp>
        <p:nvSpPr>
          <p:cNvPr id="27" name="Shape 24"/>
          <p:cNvSpPr/>
          <p:nvPr/>
        </p:nvSpPr>
        <p:spPr>
          <a:xfrm>
            <a:off x="4762500" y="1524000"/>
            <a:ext cx="1714500" cy="2667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4876800" y="1647825"/>
            <a:ext cx="14859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ИНСТРУМЕНТЫ · КОД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4857750" y="18859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4953000" y="20050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xPts</a:t>
            </a:r>
            <a:endParaRPr lang="en-US" sz="855" dirty="0"/>
          </a:p>
        </p:txBody>
      </p:sp>
      <p:sp>
        <p:nvSpPr>
          <p:cNvPr id="31" name="Shape 28"/>
          <p:cNvSpPr/>
          <p:nvPr/>
        </p:nvSpPr>
        <p:spPr>
          <a:xfrm>
            <a:off x="4857750" y="23431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4953000" y="24622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MILP-оптимизатор</a:t>
            </a:r>
            <a:endParaRPr lang="en-US" sz="855" dirty="0"/>
          </a:p>
        </p:txBody>
      </p:sp>
      <p:sp>
        <p:nvSpPr>
          <p:cNvPr id="33" name="Shape 30"/>
          <p:cNvSpPr/>
          <p:nvPr/>
        </p:nvSpPr>
        <p:spPr>
          <a:xfrm>
            <a:off x="4857750" y="28003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4953000" y="29194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News RAG</a:t>
            </a:r>
            <a:endParaRPr lang="en-US" sz="855" dirty="0"/>
          </a:p>
        </p:txBody>
      </p:sp>
      <p:sp>
        <p:nvSpPr>
          <p:cNvPr id="35" name="Shape 32"/>
          <p:cNvSpPr/>
          <p:nvPr/>
        </p:nvSpPr>
        <p:spPr>
          <a:xfrm>
            <a:off x="4857750" y="32575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4953000" y="33766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База правил</a:t>
            </a:r>
            <a:endParaRPr lang="en-US" sz="855" dirty="0"/>
          </a:p>
        </p:txBody>
      </p:sp>
      <p:sp>
        <p:nvSpPr>
          <p:cNvPr id="37" name="Text 34"/>
          <p:cNvSpPr/>
          <p:nvPr/>
        </p:nvSpPr>
        <p:spPr>
          <a:xfrm>
            <a:off x="6534150" y="2667000"/>
            <a:ext cx="214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1"/>
              </a:lnSpc>
              <a:buNone/>
            </a:pPr>
            <a:r>
              <a:rPr lang="en-US" sz="1568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568" dirty="0"/>
          </a:p>
        </p:txBody>
      </p:sp>
      <p:sp>
        <p:nvSpPr>
          <p:cNvPr id="38" name="Shape 35"/>
          <p:cNvSpPr/>
          <p:nvPr/>
        </p:nvSpPr>
        <p:spPr>
          <a:xfrm>
            <a:off x="6858000" y="1524000"/>
            <a:ext cx="1714500" cy="2667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6972300" y="1647825"/>
            <a:ext cx="14859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</a:t>
            </a:r>
            <a:endParaRPr lang="en-US" sz="641" dirty="0"/>
          </a:p>
        </p:txBody>
      </p:sp>
      <p:sp>
        <p:nvSpPr>
          <p:cNvPr id="40" name="Shape 37"/>
          <p:cNvSpPr/>
          <p:nvPr/>
        </p:nvSpPr>
        <p:spPr>
          <a:xfrm>
            <a:off x="6953250" y="18859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7048500" y="20050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API</a:t>
            </a:r>
            <a:endParaRPr lang="en-US" sz="855" dirty="0"/>
          </a:p>
        </p:txBody>
      </p:sp>
      <p:sp>
        <p:nvSpPr>
          <p:cNvPr id="42" name="Shape 39"/>
          <p:cNvSpPr/>
          <p:nvPr/>
        </p:nvSpPr>
        <p:spPr>
          <a:xfrm>
            <a:off x="6953250" y="23431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7048500" y="24622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Новости · RSS</a:t>
            </a:r>
            <a:endParaRPr lang="en-US" sz="855" dirty="0"/>
          </a:p>
        </p:txBody>
      </p:sp>
      <p:sp>
        <p:nvSpPr>
          <p:cNvPr id="44" name="Shape 41"/>
          <p:cNvSpPr/>
          <p:nvPr/>
        </p:nvSpPr>
        <p:spPr>
          <a:xfrm>
            <a:off x="6953250" y="28003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7048500" y="29194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 + pgvector</a:t>
            </a:r>
            <a:endParaRPr lang="en-US" sz="855" dirty="0"/>
          </a:p>
        </p:txBody>
      </p:sp>
      <p:sp>
        <p:nvSpPr>
          <p:cNvPr id="46" name="Shape 43"/>
          <p:cNvSpPr/>
          <p:nvPr/>
        </p:nvSpPr>
        <p:spPr>
          <a:xfrm>
            <a:off x="6953250" y="3257550"/>
            <a:ext cx="1524000" cy="400050"/>
          </a:xfrm>
          <a:prstGeom prst="roundRect">
            <a:avLst>
              <a:gd name="adj" fmla="val 320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7048500" y="3376613"/>
            <a:ext cx="1333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Understat · Odds</a:t>
            </a:r>
            <a:endParaRPr lang="en-US" sz="855" dirty="0"/>
          </a:p>
        </p:txBody>
      </p:sp>
      <p:sp>
        <p:nvSpPr>
          <p:cNvPr id="48" name="Shape 45"/>
          <p:cNvSpPr/>
          <p:nvPr/>
        </p:nvSpPr>
        <p:spPr>
          <a:xfrm>
            <a:off x="571500" y="4381500"/>
            <a:ext cx="619125" cy="209550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6"/>
          <p:cNvSpPr/>
          <p:nvPr/>
        </p:nvSpPr>
        <p:spPr>
          <a:xfrm>
            <a:off x="571500" y="4429125"/>
            <a:ext cx="619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3"/>
              </a:lnSpc>
              <a:buNone/>
            </a:pPr>
            <a:r>
              <a:rPr lang="en-US" sz="713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713" dirty="0"/>
          </a:p>
        </p:txBody>
      </p:sp>
      <p:sp>
        <p:nvSpPr>
          <p:cNvPr id="50" name="Shape 47"/>
          <p:cNvSpPr/>
          <p:nvPr/>
        </p:nvSpPr>
        <p:spPr>
          <a:xfrm>
            <a:off x="1266825" y="4381500"/>
            <a:ext cx="619125" cy="209550"/>
          </a:xfrm>
          <a:prstGeom prst="roundRect">
            <a:avLst>
              <a:gd name="adj" fmla="val 96000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1266825" y="4429125"/>
            <a:ext cx="619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3"/>
              </a:lnSpc>
              <a:buNone/>
            </a:pPr>
            <a:r>
              <a:rPr lang="en-US" sz="713" b="1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</a:t>
            </a:r>
            <a:endParaRPr lang="en-US" sz="713" dirty="0"/>
          </a:p>
        </p:txBody>
      </p:sp>
      <p:sp>
        <p:nvSpPr>
          <p:cNvPr id="52" name="Shape 49"/>
          <p:cNvSpPr/>
          <p:nvPr/>
        </p:nvSpPr>
        <p:spPr>
          <a:xfrm>
            <a:off x="1962150" y="4381500"/>
            <a:ext cx="619125" cy="209550"/>
          </a:xfrm>
          <a:prstGeom prst="roundRect">
            <a:avLst>
              <a:gd name="adj" fmla="val 96000"/>
            </a:avLst>
          </a:prstGeom>
          <a:solidFill>
            <a:srgbClr val="FEF6E4"/>
          </a:solidFill>
          <a:ln w="9049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0"/>
          <p:cNvSpPr/>
          <p:nvPr/>
        </p:nvSpPr>
        <p:spPr>
          <a:xfrm>
            <a:off x="1962150" y="4429125"/>
            <a:ext cx="619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3"/>
              </a:lnSpc>
              <a:buNone/>
            </a:pPr>
            <a:r>
              <a:rPr lang="en-US" sz="713" b="1" dirty="0">
                <a:solidFill>
                  <a:srgbClr val="B45309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человек</a:t>
            </a:r>
            <a:endParaRPr lang="en-US" sz="713" dirty="0"/>
          </a:p>
        </p:txBody>
      </p:sp>
      <p:sp>
        <p:nvSpPr>
          <p:cNvPr id="54" name="Text 51"/>
          <p:cNvSpPr/>
          <p:nvPr/>
        </p:nvSpPr>
        <p:spPr>
          <a:xfrm>
            <a:off x="2762250" y="4419600"/>
            <a:ext cx="5810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сайт, чат и MCP вызывают одни и те же функции — числа везде совпадают</a:t>
            </a:r>
            <a:endParaRPr lang="en-US" sz="855" dirty="0"/>
          </a:p>
        </p:txBody>
      </p:sp>
      <p:sp>
        <p:nvSpPr>
          <p:cNvPr id="55" name="Text 52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56" name="Text 53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64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904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ОРКЕСТРАЦИЯ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LangGraph: ветвления, циклы, HITL</a:t>
            </a:r>
            <a:endParaRPr lang="en-US" sz="2280" dirty="0"/>
          </a:p>
        </p:txBody>
      </p:sp>
      <p:sp>
        <p:nvSpPr>
          <p:cNvPr id="5" name="Text 2"/>
          <p:cNvSpPr/>
          <p:nvPr/>
        </p:nvSpPr>
        <p:spPr>
          <a:xfrm>
            <a:off x="571500" y="1038225"/>
            <a:ext cx="5810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855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нужны условные переходы, цикл с лимитом и остановка графа с сохранением состояния</a:t>
            </a:r>
            <a:endParaRPr lang="en-US" sz="85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77038" y="523875"/>
            <a:ext cx="1795463" cy="4048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524000"/>
            <a:ext cx="904875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93"/>
              </a:lnSpc>
              <a:buNone/>
            </a:pPr>
            <a:r>
              <a:rPr lang="en-US" sz="2850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1552575" y="1695450"/>
            <a:ext cx="4762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типов вопросов — router выбирает ветку</a:t>
            </a:r>
            <a:endParaRPr lang="en-US" sz="1069" dirty="0"/>
          </a:p>
        </p:txBody>
      </p:sp>
      <p:sp>
        <p:nvSpPr>
          <p:cNvPr id="9" name="Text 5"/>
          <p:cNvSpPr/>
          <p:nvPr/>
        </p:nvSpPr>
        <p:spPr>
          <a:xfrm>
            <a:off x="571500" y="2119313"/>
            <a:ext cx="904875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93"/>
              </a:lnSpc>
              <a:buNone/>
            </a:pPr>
            <a:r>
              <a:rPr lang="en-US" sz="2850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≤ 2</a:t>
            </a:r>
            <a:endParaRPr lang="en-US" sz="2850" dirty="0"/>
          </a:p>
        </p:txBody>
      </p:sp>
      <p:sp>
        <p:nvSpPr>
          <p:cNvPr id="10" name="Text 6"/>
          <p:cNvSpPr/>
          <p:nvPr/>
        </p:nvSpPr>
        <p:spPr>
          <a:xfrm>
            <a:off x="1552575" y="2290763"/>
            <a:ext cx="4762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повторных поиска, если доказательств мало</a:t>
            </a:r>
            <a:endParaRPr lang="en-US" sz="1069" dirty="0"/>
          </a:p>
        </p:txBody>
      </p:sp>
      <p:sp>
        <p:nvSpPr>
          <p:cNvPr id="11" name="Text 7"/>
          <p:cNvSpPr/>
          <p:nvPr/>
        </p:nvSpPr>
        <p:spPr>
          <a:xfrm>
            <a:off x="571500" y="2714625"/>
            <a:ext cx="904875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93"/>
              </a:lnSpc>
              <a:buNone/>
            </a:pPr>
            <a:r>
              <a:rPr lang="en-US" sz="2850" b="1" dirty="0">
                <a:solidFill>
                  <a:srgbClr val="B45309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850" dirty="0"/>
          </a:p>
        </p:txBody>
      </p:sp>
      <p:sp>
        <p:nvSpPr>
          <p:cNvPr id="12" name="Text 8"/>
          <p:cNvSpPr/>
          <p:nvPr/>
        </p:nvSpPr>
        <p:spPr>
          <a:xfrm>
            <a:off x="1552575" y="2886075"/>
            <a:ext cx="4762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остановки для человека: «какой Gabriel?» и платный трансфер</a:t>
            </a:r>
            <a:endParaRPr lang="en-US" sz="1069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3390900"/>
            <a:ext cx="3619500" cy="13192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1500" y="3667125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855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Граф остановлен перед платным трансфером: решение пишется в чекпоинт, «Отклонить» → пересчёт без хита</a:t>
            </a:r>
            <a:endParaRPr lang="en-US" sz="855" dirty="0"/>
          </a:p>
        </p:txBody>
      </p:sp>
      <p:sp>
        <p:nvSpPr>
          <p:cNvPr id="15" name="Text 10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16" name="Text 11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64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1109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РАСЧЁТНОЕ ЯДРО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xPts превращаются в допустимый план</a:t>
            </a:r>
            <a:endParaRPr lang="en-US" sz="228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381125"/>
            <a:ext cx="3824288" cy="304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14875" y="1381125"/>
            <a:ext cx="3857625" cy="762000"/>
          </a:xfrm>
          <a:prstGeom prst="roundRect">
            <a:avLst>
              <a:gd name="adj" fmla="val 24000"/>
            </a:avLst>
          </a:prstGeom>
          <a:solidFill>
            <a:srgbClr val="0B253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3"/>
          <p:cNvSpPr/>
          <p:nvPr/>
        </p:nvSpPr>
        <p:spPr>
          <a:xfrm>
            <a:off x="4905375" y="1524000"/>
            <a:ext cx="5667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b="1" kern="0" spc="57" dirty="0">
                <a:solidFill>
                  <a:srgbClr val="7DD3F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ЦЕЛЬ MILP</a:t>
            </a:r>
            <a:endParaRPr lang="en-US" sz="713" dirty="0"/>
          </a:p>
        </p:txBody>
      </p:sp>
      <p:sp>
        <p:nvSpPr>
          <p:cNvPr id="8" name="Text 4"/>
          <p:cNvSpPr/>
          <p:nvPr/>
        </p:nvSpPr>
        <p:spPr>
          <a:xfrm>
            <a:off x="4905375" y="1714500"/>
            <a:ext cx="34766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6"/>
              </a:lnSpc>
              <a:buNone/>
            </a:pPr>
            <a:r>
              <a:rPr lang="en-US" sz="1710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очки − хиты − риск</a:t>
            </a:r>
            <a:endParaRPr lang="en-US" sz="1710" dirty="0"/>
          </a:p>
        </p:txBody>
      </p:sp>
      <p:sp>
        <p:nvSpPr>
          <p:cNvPr id="9" name="Text 5"/>
          <p:cNvSpPr/>
          <p:nvPr/>
        </p:nvSpPr>
        <p:spPr>
          <a:xfrm>
            <a:off x="4714875" y="2295525"/>
            <a:ext cx="7905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b="1" kern="0" spc="57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ОГРАНИЧЕНИЯ</a:t>
            </a:r>
            <a:endParaRPr lang="en-US" sz="713" dirty="0"/>
          </a:p>
        </p:txBody>
      </p:sp>
      <p:sp>
        <p:nvSpPr>
          <p:cNvPr id="10" name="Shape 6"/>
          <p:cNvSpPr/>
          <p:nvPr/>
        </p:nvSpPr>
        <p:spPr>
          <a:xfrm>
            <a:off x="4714875" y="2486025"/>
            <a:ext cx="1881187" cy="314325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7"/>
          <p:cNvSpPr/>
          <p:nvPr/>
        </p:nvSpPr>
        <p:spPr>
          <a:xfrm>
            <a:off x="4829175" y="2576513"/>
            <a:ext cx="165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игроков · 2/5/5/3</a:t>
            </a:r>
            <a:endParaRPr lang="en-US" sz="784" dirty="0"/>
          </a:p>
        </p:txBody>
      </p:sp>
      <p:sp>
        <p:nvSpPr>
          <p:cNvPr id="12" name="Shape 8"/>
          <p:cNvSpPr/>
          <p:nvPr/>
        </p:nvSpPr>
        <p:spPr>
          <a:xfrm>
            <a:off x="6691313" y="2486025"/>
            <a:ext cx="1881187" cy="314325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9"/>
          <p:cNvSpPr/>
          <p:nvPr/>
        </p:nvSpPr>
        <p:spPr>
          <a:xfrm>
            <a:off x="6805613" y="2576513"/>
            <a:ext cx="165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в старте по правилам</a:t>
            </a:r>
            <a:endParaRPr lang="en-US" sz="784" dirty="0"/>
          </a:p>
        </p:txBody>
      </p:sp>
      <p:sp>
        <p:nvSpPr>
          <p:cNvPr id="14" name="Shape 10"/>
          <p:cNvSpPr/>
          <p:nvPr/>
        </p:nvSpPr>
        <p:spPr>
          <a:xfrm>
            <a:off x="4714875" y="2876550"/>
            <a:ext cx="1881187" cy="314325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4829175" y="2967038"/>
            <a:ext cx="165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≤ 3 из одного клуба</a:t>
            </a:r>
            <a:endParaRPr lang="en-US" sz="784" dirty="0"/>
          </a:p>
        </p:txBody>
      </p:sp>
      <p:sp>
        <p:nvSpPr>
          <p:cNvPr id="16" name="Shape 12"/>
          <p:cNvSpPr/>
          <p:nvPr/>
        </p:nvSpPr>
        <p:spPr>
          <a:xfrm>
            <a:off x="6691313" y="2876550"/>
            <a:ext cx="1881187" cy="314325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6805613" y="2967038"/>
            <a:ext cx="165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бюджет и цена продажи</a:t>
            </a:r>
            <a:endParaRPr lang="en-US" sz="784" dirty="0"/>
          </a:p>
        </p:txBody>
      </p:sp>
      <p:sp>
        <p:nvSpPr>
          <p:cNvPr id="18" name="Shape 14"/>
          <p:cNvSpPr/>
          <p:nvPr/>
        </p:nvSpPr>
        <p:spPr>
          <a:xfrm>
            <a:off x="4714875" y="3267075"/>
            <a:ext cx="1881187" cy="314325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5"/>
          <p:cNvSpPr/>
          <p:nvPr/>
        </p:nvSpPr>
        <p:spPr>
          <a:xfrm>
            <a:off x="4829175" y="3357563"/>
            <a:ext cx="165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бесплатные трансферы и −4</a:t>
            </a:r>
            <a:endParaRPr lang="en-US" sz="784" dirty="0"/>
          </a:p>
        </p:txBody>
      </p:sp>
      <p:sp>
        <p:nvSpPr>
          <p:cNvPr id="20" name="Shape 16"/>
          <p:cNvSpPr/>
          <p:nvPr/>
        </p:nvSpPr>
        <p:spPr>
          <a:xfrm>
            <a:off x="6691313" y="3267075"/>
            <a:ext cx="1881187" cy="314325"/>
          </a:xfrm>
          <a:prstGeom prst="roundRect">
            <a:avLst>
              <a:gd name="adj" fmla="val 960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7"/>
          <p:cNvSpPr/>
          <p:nvPr/>
        </p:nvSpPr>
        <p:spPr>
          <a:xfrm>
            <a:off x="6805613" y="3357563"/>
            <a:ext cx="1652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/ exclude · фишки BB, TC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4714875" y="3771900"/>
            <a:ext cx="3857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Результат: лучшие 11 · капитан · маршруты трансферов · план на 3–6 туров</a:t>
            </a:r>
            <a:endParaRPr lang="en-US" sz="926" dirty="0"/>
          </a:p>
        </p:txBody>
      </p:sp>
      <p:sp>
        <p:nvSpPr>
          <p:cNvPr id="23" name="Text 19"/>
          <p:cNvSpPr/>
          <p:nvPr/>
        </p:nvSpPr>
        <p:spPr>
          <a:xfrm>
            <a:off x="4714875" y="4191000"/>
            <a:ext cx="3857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48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Одна формулировка PuLP + HiGHS для состава, трансфера и плана — LLM не может посоветовать недопустимый состав</a:t>
            </a:r>
            <a:endParaRPr lang="en-US" sz="748" dirty="0"/>
          </a:p>
        </p:txBody>
      </p:sp>
      <p:sp>
        <p:nvSpPr>
          <p:cNvPr id="24" name="Text 20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25" name="Text 21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64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12906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РАБОТА С ДАННЫМИ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Новости о травмах → сигнал с цитатой</a:t>
            </a:r>
            <a:endParaRPr lang="en-US" sz="2280" dirty="0"/>
          </a:p>
        </p:txBody>
      </p:sp>
      <p:sp>
        <p:nvSpPr>
          <p:cNvPr id="5" name="Shape 2"/>
          <p:cNvSpPr/>
          <p:nvPr/>
        </p:nvSpPr>
        <p:spPr>
          <a:xfrm>
            <a:off x="595313" y="1524000"/>
            <a:ext cx="1143000" cy="952500"/>
          </a:xfrm>
          <a:prstGeom prst="roundRect">
            <a:avLst>
              <a:gd name="adj" fmla="val 19200"/>
            </a:avLst>
          </a:prstGeom>
          <a:solidFill>
            <a:srgbClr val="E9EEF2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709613" y="1628775"/>
            <a:ext cx="47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09613" y="1819275"/>
            <a:ext cx="914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Статья RSS, полный текст</a:t>
            </a:r>
            <a:endParaRPr lang="en-US" sz="926" dirty="0"/>
          </a:p>
        </p:txBody>
      </p:sp>
      <p:sp>
        <p:nvSpPr>
          <p:cNvPr id="8" name="Text 5"/>
          <p:cNvSpPr/>
          <p:nvPr/>
        </p:nvSpPr>
        <p:spPr>
          <a:xfrm>
            <a:off x="1776413" y="1866900"/>
            <a:ext cx="15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140" dirty="0"/>
          </a:p>
        </p:txBody>
      </p:sp>
      <p:sp>
        <p:nvSpPr>
          <p:cNvPr id="9" name="Shape 6"/>
          <p:cNvSpPr/>
          <p:nvPr/>
        </p:nvSpPr>
        <p:spPr>
          <a:xfrm>
            <a:off x="1957388" y="1524000"/>
            <a:ext cx="1143000" cy="952500"/>
          </a:xfrm>
          <a:prstGeom prst="roundRect">
            <a:avLst>
              <a:gd name="adj" fmla="val 192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2071688" y="1628775"/>
            <a:ext cx="66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2071688" y="1819275"/>
            <a:ext cx="9144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Абзац + заголовок статьи</a:t>
            </a:r>
            <a:endParaRPr lang="en-US" sz="926" dirty="0"/>
          </a:p>
        </p:txBody>
      </p:sp>
      <p:sp>
        <p:nvSpPr>
          <p:cNvPr id="12" name="Text 9"/>
          <p:cNvSpPr/>
          <p:nvPr/>
        </p:nvSpPr>
        <p:spPr>
          <a:xfrm>
            <a:off x="3138488" y="1866900"/>
            <a:ext cx="15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3319463" y="1524000"/>
            <a:ext cx="1143000" cy="952500"/>
          </a:xfrm>
          <a:prstGeom prst="roundRect">
            <a:avLst>
              <a:gd name="adj" fmla="val 192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3433763" y="1628775"/>
            <a:ext cx="61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433763" y="1819275"/>
            <a:ext cx="914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pgvector + BM25 → RRF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4500563" y="1866900"/>
            <a:ext cx="15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4681538" y="1524000"/>
            <a:ext cx="1143000" cy="952500"/>
          </a:xfrm>
          <a:prstGeom prst="roundRect">
            <a:avLst>
              <a:gd name="adj" fmla="val 192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4795838" y="1628775"/>
            <a:ext cx="66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795838" y="1819275"/>
            <a:ext cx="914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rerank flashrank</a:t>
            </a:r>
            <a:endParaRPr lang="en-US" sz="926" dirty="0"/>
          </a:p>
        </p:txBody>
      </p:sp>
      <p:sp>
        <p:nvSpPr>
          <p:cNvPr id="20" name="Text 17"/>
          <p:cNvSpPr/>
          <p:nvPr/>
        </p:nvSpPr>
        <p:spPr>
          <a:xfrm>
            <a:off x="5862638" y="1866900"/>
            <a:ext cx="15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043613" y="1524000"/>
            <a:ext cx="1143000" cy="952500"/>
          </a:xfrm>
          <a:prstGeom prst="roundRect">
            <a:avLst>
              <a:gd name="adj" fmla="val 1920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6157913" y="1628775"/>
            <a:ext cx="61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157913" y="1819275"/>
            <a:ext cx="9144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нет упоминаний → без LLM</a:t>
            </a:r>
            <a:endParaRPr lang="en-US" sz="926" dirty="0"/>
          </a:p>
        </p:txBody>
      </p:sp>
      <p:sp>
        <p:nvSpPr>
          <p:cNvPr id="24" name="Text 21"/>
          <p:cNvSpPr/>
          <p:nvPr/>
        </p:nvSpPr>
        <p:spPr>
          <a:xfrm>
            <a:off x="7224713" y="1866900"/>
            <a:ext cx="157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C9D3D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7405688" y="1524000"/>
            <a:ext cx="1143000" cy="952500"/>
          </a:xfrm>
          <a:prstGeom prst="roundRect">
            <a:avLst>
              <a:gd name="adj" fmla="val 19200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7519988" y="1628775"/>
            <a:ext cx="666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519988" y="1819275"/>
            <a:ext cx="9144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gpt-4o-mini + проверка цитат</a:t>
            </a:r>
            <a:endParaRPr lang="en-US" sz="926" dirty="0"/>
          </a:p>
        </p:txBody>
      </p:sp>
      <p:sp>
        <p:nvSpPr>
          <p:cNvPr id="28" name="Shape 25"/>
          <p:cNvSpPr/>
          <p:nvPr/>
        </p:nvSpPr>
        <p:spPr>
          <a:xfrm>
            <a:off x="5715000" y="2809875"/>
            <a:ext cx="2857500" cy="1428750"/>
          </a:xfrm>
          <a:prstGeom prst="roundRect">
            <a:avLst>
              <a:gd name="adj" fmla="val 15360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5924550" y="3000375"/>
            <a:ext cx="7381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b="1" kern="0" spc="57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БАЗА ПРАВИЛ</a:t>
            </a:r>
            <a:endParaRPr lang="en-US" sz="713" dirty="0"/>
          </a:p>
        </p:txBody>
      </p:sp>
      <p:sp>
        <p:nvSpPr>
          <p:cNvPr id="30" name="Text 27"/>
          <p:cNvSpPr/>
          <p:nvPr/>
        </p:nvSpPr>
        <p:spPr>
          <a:xfrm>
            <a:off x="5924550" y="3200400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5"/>
              </a:lnSpc>
              <a:buNone/>
            </a:pPr>
            <a:r>
              <a:rPr lang="en-US" sz="1995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41 документ</a:t>
            </a:r>
            <a:endParaRPr lang="en-US" sz="1995" dirty="0"/>
          </a:p>
        </p:txBody>
      </p:sp>
      <p:sp>
        <p:nvSpPr>
          <p:cNvPr id="31" name="Text 28"/>
          <p:cNvSpPr/>
          <p:nvPr/>
        </p:nvSpPr>
        <p:spPr>
          <a:xfrm>
            <a:off x="5924550" y="3629025"/>
            <a:ext cx="2438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926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 только с цитатами, код проверяет дословность</a:t>
            </a:r>
            <a:endParaRPr lang="en-US" sz="926" dirty="0"/>
          </a:p>
        </p:txBody>
      </p:sp>
      <p:sp>
        <p:nvSpPr>
          <p:cNvPr id="32" name="Text 29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33" name="Text 30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641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809875"/>
            <a:ext cx="4953000" cy="129063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71500" y="4181475"/>
            <a:ext cx="4953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Лента Брифинга: сигнал, цитата, источник и дата — без вызова LLM при показе</a:t>
            </a:r>
            <a:endParaRPr lang="en-US" sz="713" dirty="0"/>
          </a:p>
        </p:txBody>
      </p:sp>
      <p:sp>
        <p:nvSpPr>
          <p:cNvPr id="36" name="Text 32"/>
          <p:cNvSpPr/>
          <p:nvPr/>
        </p:nvSpPr>
        <p:spPr>
          <a:xfrm>
            <a:off x="571500" y="2571750"/>
            <a:ext cx="8001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48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чанк — абзац ≤ 300 токенов + заголовок · эмбеддинги text-embedding-3-small · pgvector (HNSW) · BM25 + dense → RRF · реранкер flashrank на CPU</a:t>
            </a:r>
            <a:endParaRPr lang="en-US" sz="74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1566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ОБЯЗАТЕЛЬНЫЕ МОДУЛИ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MCP, Skill и мультимодальность</a:t>
            </a:r>
            <a:endParaRPr lang="en-US" sz="2280" dirty="0"/>
          </a:p>
        </p:txBody>
      </p:sp>
      <p:sp>
        <p:nvSpPr>
          <p:cNvPr id="5" name="Shape 2"/>
          <p:cNvSpPr/>
          <p:nvPr/>
        </p:nvSpPr>
        <p:spPr>
          <a:xfrm>
            <a:off x="571500" y="1476375"/>
            <a:ext cx="2571750" cy="2952750"/>
          </a:xfrm>
          <a:prstGeom prst="roundRect">
            <a:avLst>
              <a:gd name="adj" fmla="val 9956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781050" y="1647825"/>
            <a:ext cx="69056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14"/>
              </a:lnSpc>
              <a:buNone/>
            </a:pPr>
            <a:r>
              <a:rPr lang="en-US" sz="2280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MCP</a:t>
            </a:r>
            <a:endParaRPr lang="en-US" sz="2280" dirty="0"/>
          </a:p>
        </p:txBody>
      </p:sp>
      <p:sp>
        <p:nvSpPr>
          <p:cNvPr id="7" name="Text 4"/>
          <p:cNvSpPr/>
          <p:nvPr/>
        </p:nvSpPr>
        <p:spPr>
          <a:xfrm>
            <a:off x="781050" y="2128838"/>
            <a:ext cx="2152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инструментов в Cursor и Claude Desktop</a:t>
            </a:r>
            <a:endParaRPr lang="en-US" sz="1069" dirty="0"/>
          </a:p>
        </p:txBody>
      </p:sp>
      <p:sp>
        <p:nvSpPr>
          <p:cNvPr id="8" name="Text 5"/>
          <p:cNvSpPr/>
          <p:nvPr/>
        </p:nvSpPr>
        <p:spPr>
          <a:xfrm>
            <a:off x="781050" y="2557463"/>
            <a:ext cx="2152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819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отдаёт решения — маршруты трансферов, план, риск игрока — а не сырые данные</a:t>
            </a:r>
            <a:endParaRPr lang="en-US" sz="819" dirty="0"/>
          </a:p>
        </p:txBody>
      </p:sp>
      <p:sp>
        <p:nvSpPr>
          <p:cNvPr id="9" name="Shape 6"/>
          <p:cNvSpPr/>
          <p:nvPr/>
        </p:nvSpPr>
        <p:spPr>
          <a:xfrm>
            <a:off x="3286125" y="1476375"/>
            <a:ext cx="2571750" cy="2952750"/>
          </a:xfrm>
          <a:prstGeom prst="roundRect">
            <a:avLst>
              <a:gd name="adj" fmla="val 9956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3495675" y="1647825"/>
            <a:ext cx="6477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14"/>
              </a:lnSpc>
              <a:buNone/>
            </a:pPr>
            <a:r>
              <a:rPr lang="en-US" sz="2280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</a:t>
            </a:r>
            <a:endParaRPr lang="en-US" sz="2280" dirty="0"/>
          </a:p>
        </p:txBody>
      </p:sp>
      <p:sp>
        <p:nvSpPr>
          <p:cNvPr id="11" name="Text 8"/>
          <p:cNvSpPr/>
          <p:nvPr/>
        </p:nvSpPr>
        <p:spPr>
          <a:xfrm>
            <a:off x="3495675" y="2128838"/>
            <a:ext cx="21526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SKILL.md: когда срабатывать и в каком порядке звать инструменты</a:t>
            </a:r>
            <a:endParaRPr lang="en-US" sz="1069" dirty="0"/>
          </a:p>
        </p:txBody>
      </p:sp>
      <p:sp>
        <p:nvSpPr>
          <p:cNvPr id="12" name="Text 9"/>
          <p:cNvSpPr/>
          <p:nvPr/>
        </p:nvSpPr>
        <p:spPr>
          <a:xfrm>
            <a:off x="3495675" y="2738438"/>
            <a:ext cx="2152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819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запреты: только числа из инструментов, никаких коэффициентов ставок</a:t>
            </a:r>
            <a:endParaRPr lang="en-US" sz="819" dirty="0"/>
          </a:p>
        </p:txBody>
      </p:sp>
      <p:sp>
        <p:nvSpPr>
          <p:cNvPr id="13" name="Shape 10"/>
          <p:cNvSpPr/>
          <p:nvPr/>
        </p:nvSpPr>
        <p:spPr>
          <a:xfrm>
            <a:off x="6000750" y="1476375"/>
            <a:ext cx="2571750" cy="2952750"/>
          </a:xfrm>
          <a:prstGeom prst="roundRect">
            <a:avLst>
              <a:gd name="adj" fmla="val 9956"/>
            </a:avLst>
          </a:prstGeom>
          <a:solidFill>
            <a:srgbClr val="FFF1E6"/>
          </a:solidFill>
          <a:ln w="9049">
            <a:solidFill>
              <a:srgbClr val="F9B9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6210300" y="1647825"/>
            <a:ext cx="9286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14"/>
              </a:lnSpc>
              <a:buNone/>
            </a:pPr>
            <a:r>
              <a:rPr lang="en-US" sz="2280" b="1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Vision</a:t>
            </a:r>
            <a:endParaRPr lang="en-US" sz="2280" dirty="0"/>
          </a:p>
        </p:txBody>
      </p:sp>
      <p:sp>
        <p:nvSpPr>
          <p:cNvPr id="15" name="Text 12"/>
          <p:cNvSpPr/>
          <p:nvPr/>
        </p:nvSpPr>
        <p:spPr>
          <a:xfrm>
            <a:off x="6210300" y="2128838"/>
            <a:ext cx="2152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скриншот → состав: 15/15 карточек, $0.007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6210300" y="2557463"/>
            <a:ext cx="2152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819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 него нет текущего состава: API отдаёт выбор только после дедлайна</a:t>
            </a:r>
            <a:endParaRPr lang="en-US" sz="819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0300" y="2976563"/>
            <a:ext cx="1819275" cy="12620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19" name="Text 15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64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75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EVALS И A/B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130 примеров, 5 экспериментов</a:t>
            </a:r>
            <a:endParaRPr lang="en-US" sz="2280" dirty="0"/>
          </a:p>
        </p:txBody>
      </p:sp>
      <p:sp>
        <p:nvSpPr>
          <p:cNvPr id="5" name="Shape 2"/>
          <p:cNvSpPr/>
          <p:nvPr/>
        </p:nvSpPr>
        <p:spPr>
          <a:xfrm>
            <a:off x="571500" y="1428750"/>
            <a:ext cx="4810125" cy="3000375"/>
          </a:xfrm>
          <a:prstGeom prst="roundRect">
            <a:avLst>
              <a:gd name="adj" fmla="val 7314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781050" y="1619250"/>
            <a:ext cx="1257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b="1" kern="0" spc="57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ЧАТ: ПРОМПТЫ V3 → V4</a:t>
            </a:r>
            <a:endParaRPr lang="en-US" sz="713" dirty="0"/>
          </a:p>
        </p:txBody>
      </p:sp>
      <p:sp>
        <p:nvSpPr>
          <p:cNvPr id="7" name="Text 4"/>
          <p:cNvSpPr/>
          <p:nvPr/>
        </p:nvSpPr>
        <p:spPr>
          <a:xfrm>
            <a:off x="781050" y="1905000"/>
            <a:ext cx="1400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полезные ответы из 60</a:t>
            </a:r>
            <a:endParaRPr lang="en-US" sz="926" dirty="0"/>
          </a:p>
        </p:txBody>
      </p:sp>
      <p:sp>
        <p:nvSpPr>
          <p:cNvPr id="8" name="Text 5"/>
          <p:cNvSpPr/>
          <p:nvPr/>
        </p:nvSpPr>
        <p:spPr>
          <a:xfrm>
            <a:off x="781050" y="2200275"/>
            <a:ext cx="266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v3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1095375" y="2152650"/>
            <a:ext cx="942975" cy="238125"/>
          </a:xfrm>
          <a:prstGeom prst="roundRect">
            <a:avLst/>
          </a:prstGeom>
          <a:solidFill>
            <a:srgbClr val="C9D3D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2114550" y="2181225"/>
            <a:ext cx="142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1069" dirty="0"/>
          </a:p>
        </p:txBody>
      </p:sp>
      <p:sp>
        <p:nvSpPr>
          <p:cNvPr id="11" name="Text 8"/>
          <p:cNvSpPr/>
          <p:nvPr/>
        </p:nvSpPr>
        <p:spPr>
          <a:xfrm>
            <a:off x="781050" y="2514600"/>
            <a:ext cx="266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v4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1095375" y="2466975"/>
            <a:ext cx="3000375" cy="238125"/>
          </a:xfrm>
          <a:prstGeom prst="roundRect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4171950" y="2495550"/>
            <a:ext cx="17621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54</a:t>
            </a:r>
            <a:endParaRPr lang="en-US" sz="1069" dirty="0"/>
          </a:p>
        </p:txBody>
      </p:sp>
      <p:sp>
        <p:nvSpPr>
          <p:cNvPr id="14" name="Text 11"/>
          <p:cNvSpPr/>
          <p:nvPr/>
        </p:nvSpPr>
        <p:spPr>
          <a:xfrm>
            <a:off x="781050" y="3000375"/>
            <a:ext cx="1262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ложные отказы из 55</a:t>
            </a:r>
            <a:endParaRPr lang="en-US" sz="926" dirty="0"/>
          </a:p>
        </p:txBody>
      </p:sp>
      <p:sp>
        <p:nvSpPr>
          <p:cNvPr id="15" name="Text 12"/>
          <p:cNvSpPr/>
          <p:nvPr/>
        </p:nvSpPr>
        <p:spPr>
          <a:xfrm>
            <a:off x="781050" y="3295650"/>
            <a:ext cx="266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v3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1095375" y="3248025"/>
            <a:ext cx="557213" cy="238125"/>
          </a:xfrm>
          <a:prstGeom prst="roundRect">
            <a:avLst/>
          </a:prstGeom>
          <a:solidFill>
            <a:srgbClr val="C9D3D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1728788" y="3276600"/>
            <a:ext cx="161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069" dirty="0"/>
          </a:p>
        </p:txBody>
      </p:sp>
      <p:sp>
        <p:nvSpPr>
          <p:cNvPr id="18" name="Text 15"/>
          <p:cNvSpPr/>
          <p:nvPr/>
        </p:nvSpPr>
        <p:spPr>
          <a:xfrm>
            <a:off x="781050" y="3609975"/>
            <a:ext cx="266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v4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1095375" y="3562350"/>
            <a:ext cx="38100" cy="238125"/>
          </a:xfrm>
          <a:prstGeom prst="round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1209675" y="3590925"/>
            <a:ext cx="10001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15803D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069" dirty="0"/>
          </a:p>
        </p:txBody>
      </p:sp>
      <p:sp>
        <p:nvSpPr>
          <p:cNvPr id="21" name="Text 18"/>
          <p:cNvSpPr/>
          <p:nvPr/>
        </p:nvSpPr>
        <p:spPr>
          <a:xfrm>
            <a:off x="781050" y="4095750"/>
            <a:ext cx="4391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интент верно 58/60 · holdout 13 из 15 полезных · разметка проекта, один менеджер — не независимый бенчмарк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5572125" y="1428750"/>
            <a:ext cx="3000375" cy="928688"/>
          </a:xfrm>
          <a:prstGeom prst="roundRect">
            <a:avLst>
              <a:gd name="adj" fmla="val 23631"/>
            </a:avLst>
          </a:prstGeom>
          <a:solidFill>
            <a:srgbClr val="E8F6EE"/>
          </a:solidFill>
          <a:ln w="9049">
            <a:solidFill>
              <a:srgbClr val="A7DDB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5743575" y="1562100"/>
            <a:ext cx="2657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6"/>
              </a:lnSpc>
              <a:buNone/>
            </a:pPr>
            <a:r>
              <a:rPr lang="en-US" sz="1710" b="1" dirty="0">
                <a:solidFill>
                  <a:srgbClr val="15803D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0/8 → 8/8</a:t>
            </a:r>
            <a:endParaRPr lang="en-US" sz="1710" dirty="0"/>
          </a:p>
        </p:txBody>
      </p:sp>
      <p:sp>
        <p:nvSpPr>
          <p:cNvPr id="24" name="Text 21"/>
          <p:cNvSpPr/>
          <p:nvPr/>
        </p:nvSpPr>
        <p:spPr>
          <a:xfrm>
            <a:off x="5743575" y="1914525"/>
            <a:ext cx="26574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тур возвращения травмированного: считает код, а не модель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5572125" y="2452688"/>
            <a:ext cx="3000375" cy="928688"/>
          </a:xfrm>
          <a:prstGeom prst="roundRect">
            <a:avLst>
              <a:gd name="adj" fmla="val 23631"/>
            </a:avLst>
          </a:prstGeom>
          <a:solidFill>
            <a:srgbClr val="FEF6E4"/>
          </a:solidFill>
          <a:ln w="9049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5743575" y="2586038"/>
            <a:ext cx="2657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6"/>
              </a:lnSpc>
              <a:buNone/>
            </a:pPr>
            <a:r>
              <a:rPr lang="en-US" sz="1710" b="1" dirty="0">
                <a:solidFill>
                  <a:srgbClr val="B45309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0.852 → 0.741</a:t>
            </a:r>
            <a:endParaRPr lang="en-US" sz="1710" dirty="0"/>
          </a:p>
        </p:txBody>
      </p:sp>
      <p:sp>
        <p:nvSpPr>
          <p:cNvPr id="27" name="Text 24"/>
          <p:cNvSpPr/>
          <p:nvPr/>
        </p:nvSpPr>
        <p:spPr>
          <a:xfrm>
            <a:off x="5743575" y="2938463"/>
            <a:ext cx="26574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«упало из-за данных» оказалось утечкой из будущего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5572125" y="3476625"/>
            <a:ext cx="3000375" cy="928688"/>
          </a:xfrm>
          <a:prstGeom prst="roundRect">
            <a:avLst>
              <a:gd name="adj" fmla="val 23631"/>
            </a:avLst>
          </a:prstGeom>
          <a:solidFill>
            <a:srgbClr val="E6F6FE"/>
          </a:solidFill>
          <a:ln w="9049">
            <a:solidFill>
              <a:srgbClr val="8FD5F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5743575" y="3609975"/>
            <a:ext cx="2657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6"/>
              </a:lnSpc>
              <a:buNone/>
            </a:pPr>
            <a:r>
              <a:rPr lang="en-US" sz="1710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метрики</a:t>
            </a:r>
            <a:endParaRPr lang="en-US" sz="1710" dirty="0"/>
          </a:p>
        </p:txBody>
      </p:sp>
      <p:sp>
        <p:nvSpPr>
          <p:cNvPr id="30" name="Text 27"/>
          <p:cNvSpPr/>
          <p:nvPr/>
        </p:nvSpPr>
        <p:spPr>
          <a:xfrm>
            <a:off x="5743575" y="3962400"/>
            <a:ext cx="26574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9"/>
              </a:lnSpc>
              <a:buNone/>
            </a:pPr>
            <a:r>
              <a:rPr lang="en-US" sz="784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точность · recall@8 · faithfulness (LLM-судья) · ручная оценка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32" name="Text 29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64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704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ВЫБОР LLM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gpt-4o-mini: точность gpt-4.1 в 15 раз дешевле</a:t>
            </a:r>
            <a:endParaRPr lang="en-US" sz="2280" dirty="0"/>
          </a:p>
        </p:txBody>
      </p:sp>
      <p:sp>
        <p:nvSpPr>
          <p:cNvPr id="5" name="Shape 2"/>
          <p:cNvSpPr/>
          <p:nvPr/>
        </p:nvSpPr>
        <p:spPr>
          <a:xfrm>
            <a:off x="571500" y="1571625"/>
            <a:ext cx="5143500" cy="2857500"/>
          </a:xfrm>
          <a:prstGeom prst="roundRect">
            <a:avLst>
              <a:gd name="adj" fmla="val 7680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781050" y="1762125"/>
            <a:ext cx="39052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b="1" kern="0" spc="57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ВЕРНО ИЗ 27 · ИЗВЛЕЧЕНИЕ СИГНАЛОВ, T = 0</a:t>
            </a:r>
            <a:endParaRPr lang="en-US" sz="713" dirty="0"/>
          </a:p>
        </p:txBody>
      </p:sp>
      <p:sp>
        <p:nvSpPr>
          <p:cNvPr id="7" name="Text 4"/>
          <p:cNvSpPr/>
          <p:nvPr/>
        </p:nvSpPr>
        <p:spPr>
          <a:xfrm>
            <a:off x="4762500" y="1781175"/>
            <a:ext cx="7429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цена</a:t>
            </a:r>
            <a:endParaRPr lang="en-US" sz="641" dirty="0"/>
          </a:p>
        </p:txBody>
      </p:sp>
      <p:sp>
        <p:nvSpPr>
          <p:cNvPr id="8" name="Text 5"/>
          <p:cNvSpPr/>
          <p:nvPr/>
        </p:nvSpPr>
        <p:spPr>
          <a:xfrm>
            <a:off x="781050" y="2152650"/>
            <a:ext cx="1143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gpt-4.1-nano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2000250" y="2095500"/>
            <a:ext cx="1428750" cy="247650"/>
          </a:xfrm>
          <a:prstGeom prst="roundRect">
            <a:avLst/>
          </a:prstGeom>
          <a:solidFill>
            <a:srgbClr val="C9D3D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3505200" y="2124075"/>
            <a:ext cx="1524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1069" dirty="0"/>
          </a:p>
        </p:txBody>
      </p:sp>
      <p:sp>
        <p:nvSpPr>
          <p:cNvPr id="11" name="Text 8"/>
          <p:cNvSpPr/>
          <p:nvPr/>
        </p:nvSpPr>
        <p:spPr>
          <a:xfrm>
            <a:off x="4762500" y="2143125"/>
            <a:ext cx="742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дешевле</a:t>
            </a:r>
            <a:endParaRPr lang="en-US" sz="855" dirty="0"/>
          </a:p>
        </p:txBody>
      </p:sp>
      <p:sp>
        <p:nvSpPr>
          <p:cNvPr id="12" name="Text 9"/>
          <p:cNvSpPr/>
          <p:nvPr/>
        </p:nvSpPr>
        <p:spPr>
          <a:xfrm>
            <a:off x="781050" y="2590800"/>
            <a:ext cx="1143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gpt-4.1-mini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2000250" y="2533650"/>
            <a:ext cx="2000250" cy="247650"/>
          </a:xfrm>
          <a:prstGeom prst="roundRect">
            <a:avLst/>
          </a:prstGeom>
          <a:solidFill>
            <a:srgbClr val="C9D3D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076700" y="2562225"/>
            <a:ext cx="1524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1069" dirty="0"/>
          </a:p>
        </p:txBody>
      </p:sp>
      <p:sp>
        <p:nvSpPr>
          <p:cNvPr id="15" name="Text 12"/>
          <p:cNvSpPr/>
          <p:nvPr/>
        </p:nvSpPr>
        <p:spPr>
          <a:xfrm>
            <a:off x="4762500" y="2581275"/>
            <a:ext cx="742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×2.7</a:t>
            </a:r>
            <a:endParaRPr lang="en-US" sz="855" dirty="0"/>
          </a:p>
        </p:txBody>
      </p:sp>
      <p:sp>
        <p:nvSpPr>
          <p:cNvPr id="16" name="Text 13"/>
          <p:cNvSpPr/>
          <p:nvPr/>
        </p:nvSpPr>
        <p:spPr>
          <a:xfrm>
            <a:off x="781050" y="3028950"/>
            <a:ext cx="1143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0277B8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gpt-4o-mini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2000250" y="2971800"/>
            <a:ext cx="2190750" cy="247650"/>
          </a:xfrm>
          <a:prstGeom prst="roundRect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4267200" y="3000375"/>
            <a:ext cx="1714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4762500" y="3019425"/>
            <a:ext cx="742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×1</a:t>
            </a:r>
            <a:endParaRPr lang="en-US" sz="855" dirty="0"/>
          </a:p>
        </p:txBody>
      </p:sp>
      <p:sp>
        <p:nvSpPr>
          <p:cNvPr id="20" name="Text 17"/>
          <p:cNvSpPr/>
          <p:nvPr/>
        </p:nvSpPr>
        <p:spPr>
          <a:xfrm>
            <a:off x="781050" y="3467100"/>
            <a:ext cx="1143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gpt-4.1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2000250" y="3409950"/>
            <a:ext cx="2190750" cy="247650"/>
          </a:xfrm>
          <a:prstGeom prst="roundRect">
            <a:avLst/>
          </a:prstGeom>
          <a:solidFill>
            <a:srgbClr val="C9D3D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267200" y="3438525"/>
            <a:ext cx="1714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0" y="3457575"/>
            <a:ext cx="742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×15</a:t>
            </a:r>
            <a:endParaRPr lang="en-US" sz="855" dirty="0"/>
          </a:p>
        </p:txBody>
      </p:sp>
      <p:sp>
        <p:nvSpPr>
          <p:cNvPr id="24" name="Text 21"/>
          <p:cNvSpPr/>
          <p:nvPr/>
        </p:nvSpPr>
        <p:spPr>
          <a:xfrm>
            <a:off x="781050" y="3905250"/>
            <a:ext cx="1143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84" b="1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gpt-5.4-mini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2000250" y="3848100"/>
            <a:ext cx="2286000" cy="247650"/>
          </a:xfrm>
          <a:prstGeom prst="roundRect">
            <a:avLst/>
          </a:prstGeom>
          <a:solidFill>
            <a:srgbClr val="C9D3D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4362450" y="3876675"/>
            <a:ext cx="1714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069" b="1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1069" dirty="0"/>
          </a:p>
        </p:txBody>
      </p:sp>
      <p:sp>
        <p:nvSpPr>
          <p:cNvPr id="27" name="Text 24"/>
          <p:cNvSpPr/>
          <p:nvPr/>
        </p:nvSpPr>
        <p:spPr>
          <a:xfrm>
            <a:off x="4762500" y="3895725"/>
            <a:ext cx="742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68"/>
              </a:lnSpc>
              <a:buNone/>
            </a:pPr>
            <a:r>
              <a:rPr lang="en-US" sz="855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×5.7</a:t>
            </a:r>
            <a:endParaRPr lang="en-US" sz="855" dirty="0"/>
          </a:p>
        </p:txBody>
      </p:sp>
      <p:sp>
        <p:nvSpPr>
          <p:cNvPr id="28" name="Text 25"/>
          <p:cNvSpPr/>
          <p:nvPr/>
        </p:nvSpPr>
        <p:spPr>
          <a:xfrm>
            <a:off x="781050" y="4143375"/>
            <a:ext cx="4724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6"/>
              </a:lnSpc>
              <a:buNone/>
            </a:pPr>
            <a:r>
              <a:rPr lang="en-US" sz="713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цена — относительно gpt-4o-mini</a:t>
            </a:r>
            <a:endParaRPr lang="en-US" sz="713" dirty="0"/>
          </a:p>
        </p:txBody>
      </p:sp>
      <p:sp>
        <p:nvSpPr>
          <p:cNvPr id="29" name="Shape 26"/>
          <p:cNvSpPr/>
          <p:nvPr/>
        </p:nvSpPr>
        <p:spPr>
          <a:xfrm>
            <a:off x="5905500" y="1571625"/>
            <a:ext cx="2667000" cy="885825"/>
          </a:xfrm>
          <a:prstGeom prst="roundRect">
            <a:avLst>
              <a:gd name="adj" fmla="val 24774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6076950" y="1704975"/>
            <a:ext cx="232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= 0 · max_tokens 1400–2000</a:t>
            </a:r>
            <a:endParaRPr lang="en-US" sz="1140" dirty="0"/>
          </a:p>
        </p:txBody>
      </p:sp>
      <p:sp>
        <p:nvSpPr>
          <p:cNvPr id="31" name="Text 28"/>
          <p:cNvSpPr/>
          <p:nvPr/>
        </p:nvSpPr>
        <p:spPr>
          <a:xfrm>
            <a:off x="6076950" y="1962150"/>
            <a:ext cx="2324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48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на точность не влияет, но даёт воспроизводимость; при 600 токенах обрезается 25 % ответов</a:t>
            </a:r>
            <a:endParaRPr lang="en-US" sz="748" dirty="0"/>
          </a:p>
        </p:txBody>
      </p:sp>
      <p:sp>
        <p:nvSpPr>
          <p:cNvPr id="32" name="Shape 29"/>
          <p:cNvSpPr/>
          <p:nvPr/>
        </p:nvSpPr>
        <p:spPr>
          <a:xfrm>
            <a:off x="5905500" y="2557463"/>
            <a:ext cx="2667000" cy="885825"/>
          </a:xfrm>
          <a:prstGeom prst="roundRect">
            <a:avLst>
              <a:gd name="adj" fmla="val 24774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6076950" y="2690813"/>
            <a:ext cx="232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$0.0026 · 7.5 с на вопрос</a:t>
            </a:r>
            <a:endParaRPr lang="en-US" sz="1140" dirty="0"/>
          </a:p>
        </p:txBody>
      </p:sp>
      <p:sp>
        <p:nvSpPr>
          <p:cNvPr id="34" name="Text 31"/>
          <p:cNvSpPr/>
          <p:nvPr/>
        </p:nvSpPr>
        <p:spPr>
          <a:xfrm>
            <a:off x="6076950" y="2947988"/>
            <a:ext cx="2324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48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среднем по 60 вопросам чата: 2 вызова LLM, остальное считает код</a:t>
            </a:r>
            <a:endParaRPr lang="en-US" sz="748" dirty="0"/>
          </a:p>
        </p:txBody>
      </p:sp>
      <p:sp>
        <p:nvSpPr>
          <p:cNvPr id="35" name="Shape 32"/>
          <p:cNvSpPr/>
          <p:nvPr/>
        </p:nvSpPr>
        <p:spPr>
          <a:xfrm>
            <a:off x="5905500" y="3543300"/>
            <a:ext cx="2667000" cy="885825"/>
          </a:xfrm>
          <a:prstGeom prst="roundRect">
            <a:avLst>
              <a:gd name="adj" fmla="val 24774"/>
            </a:avLst>
          </a:prstGeom>
          <a:solidFill>
            <a:srgbClr val="FEF6E4"/>
          </a:solidFill>
          <a:ln w="9049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6076950" y="3676650"/>
            <a:ext cx="232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7"/>
              </a:lnSpc>
              <a:buNone/>
            </a:pPr>
            <a:r>
              <a:rPr lang="en-US" sz="1140" b="1" dirty="0">
                <a:solidFill>
                  <a:srgbClr val="B45309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Если OpenAI недоступна</a:t>
            </a:r>
            <a:endParaRPr lang="en-US" sz="1140" dirty="0"/>
          </a:p>
        </p:txBody>
      </p:sp>
      <p:sp>
        <p:nvSpPr>
          <p:cNvPr id="37" name="Text 34"/>
          <p:cNvSpPr/>
          <p:nvPr/>
        </p:nvSpPr>
        <p:spPr>
          <a:xfrm>
            <a:off x="6076950" y="3933825"/>
            <a:ext cx="2324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48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 из фактов кода без LLM; запасной провайдер спроектирован, не реализован</a:t>
            </a:r>
            <a:endParaRPr lang="en-US" sz="748" dirty="0"/>
          </a:p>
        </p:txBody>
      </p:sp>
      <p:sp>
        <p:nvSpPr>
          <p:cNvPr id="38" name="Text 35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39" name="Text 36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64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16954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МОНИТОРИНГ · LANGSMITH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шаг запроса виден в трейсе</a:t>
            </a:r>
            <a:endParaRPr lang="en-US" sz="228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2050" y="1190625"/>
            <a:ext cx="6819900" cy="3286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4562475"/>
            <a:ext cx="8001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узлы графа — отдельные шаги · два вызова модели: router и explain · у каждого видно модель, версию промпта, токены, цену и время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8" name="Text 4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64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048500" y="3333750"/>
            <a:ext cx="3619500" cy="3619500"/>
          </a:xfrm>
          <a:prstGeom prst="ellipse">
            <a:avLst/>
          </a:prstGeom>
          <a:solidFill>
            <a:srgbClr val="12334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1"/>
          <p:cNvSpPr/>
          <p:nvPr/>
        </p:nvSpPr>
        <p:spPr>
          <a:xfrm>
            <a:off x="571500" y="438150"/>
            <a:ext cx="4048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7DD3F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ИТОГИ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Выводы: что подтвердилось, а что нет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9FC3D6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9" name="Text 6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9FC3D6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641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0500" y="3867150"/>
            <a:ext cx="762000" cy="762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1381125"/>
            <a:ext cx="2571750" cy="2095500"/>
          </a:xfrm>
          <a:prstGeom prst="roundRect">
            <a:avLst>
              <a:gd name="adj" fmla="val 10473"/>
            </a:avLst>
          </a:prstGeom>
          <a:solidFill>
            <a:srgbClr val="12334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762000" y="1552575"/>
            <a:ext cx="8905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9FC3D6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БЫЛО ГИПОТЕЗОЙ</a:t>
            </a:r>
            <a:endParaRPr lang="en-US" sz="641" dirty="0"/>
          </a:p>
        </p:txBody>
      </p:sp>
      <p:sp>
        <p:nvSpPr>
          <p:cNvPr id="13" name="Text 9"/>
          <p:cNvSpPr/>
          <p:nvPr/>
        </p:nvSpPr>
        <p:spPr>
          <a:xfrm>
            <a:off x="762000" y="1738313"/>
            <a:ext cx="2190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«Сильная модель не будет выдумывать цифры»</a:t>
            </a:r>
            <a:endParaRPr lang="en-US" sz="1140" dirty="0"/>
          </a:p>
        </p:txBody>
      </p:sp>
      <p:sp>
        <p:nvSpPr>
          <p:cNvPr id="14" name="Text 10"/>
          <p:cNvSpPr/>
          <p:nvPr/>
        </p:nvSpPr>
        <p:spPr>
          <a:xfrm>
            <a:off x="762000" y="2252663"/>
            <a:ext cx="6000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7DD3F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ОКАЗАЛОСЬ</a:t>
            </a:r>
            <a:endParaRPr lang="en-US" sz="641" dirty="0"/>
          </a:p>
        </p:txBody>
      </p:sp>
      <p:sp>
        <p:nvSpPr>
          <p:cNvPr id="15" name="Text 11"/>
          <p:cNvSpPr/>
          <p:nvPr/>
        </p:nvSpPr>
        <p:spPr>
          <a:xfrm>
            <a:off x="762000" y="2428875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926" dirty="0">
                <a:solidFill>
                  <a:srgbClr val="CFE3EE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выдумывают и gpt-4.1, и mini — спасает только проверка кодом</a:t>
            </a:r>
            <a:endParaRPr lang="en-US" sz="926" dirty="0"/>
          </a:p>
        </p:txBody>
      </p:sp>
      <p:sp>
        <p:nvSpPr>
          <p:cNvPr id="16" name="Shape 12"/>
          <p:cNvSpPr/>
          <p:nvPr/>
        </p:nvSpPr>
        <p:spPr>
          <a:xfrm>
            <a:off x="3286125" y="1381125"/>
            <a:ext cx="2571750" cy="2095500"/>
          </a:xfrm>
          <a:prstGeom prst="roundRect">
            <a:avLst>
              <a:gd name="adj" fmla="val 10473"/>
            </a:avLst>
          </a:prstGeom>
          <a:solidFill>
            <a:srgbClr val="12334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3476625" y="1552575"/>
            <a:ext cx="8905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9FC3D6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БЫЛО ГИПОТЕЗОЙ</a:t>
            </a:r>
            <a:endParaRPr lang="en-US" sz="641" dirty="0"/>
          </a:p>
        </p:txBody>
      </p:sp>
      <p:sp>
        <p:nvSpPr>
          <p:cNvPr id="18" name="Text 14"/>
          <p:cNvSpPr/>
          <p:nvPr/>
        </p:nvSpPr>
        <p:spPr>
          <a:xfrm>
            <a:off x="3476625" y="1738313"/>
            <a:ext cx="2190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«Точность упала из-за новых данных»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3476625" y="2252663"/>
            <a:ext cx="6000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7DD3F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ОКАЗАЛОСЬ</a:t>
            </a:r>
            <a:endParaRPr lang="en-US" sz="641" dirty="0"/>
          </a:p>
        </p:txBody>
      </p:sp>
      <p:sp>
        <p:nvSpPr>
          <p:cNvPr id="20" name="Text 16"/>
          <p:cNvSpPr/>
          <p:nvPr/>
        </p:nvSpPr>
        <p:spPr>
          <a:xfrm>
            <a:off x="3476625" y="2428875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926" dirty="0">
                <a:solidFill>
                  <a:srgbClr val="CFE3EE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утечка из будущего в оценке: нашли и исправили</a:t>
            </a:r>
            <a:endParaRPr lang="en-US" sz="926" dirty="0"/>
          </a:p>
        </p:txBody>
      </p:sp>
      <p:sp>
        <p:nvSpPr>
          <p:cNvPr id="21" name="Shape 17"/>
          <p:cNvSpPr/>
          <p:nvPr/>
        </p:nvSpPr>
        <p:spPr>
          <a:xfrm>
            <a:off x="6000750" y="1381125"/>
            <a:ext cx="2571750" cy="2095500"/>
          </a:xfrm>
          <a:prstGeom prst="roundRect">
            <a:avLst>
              <a:gd name="adj" fmla="val 10473"/>
            </a:avLst>
          </a:prstGeom>
          <a:solidFill>
            <a:srgbClr val="12334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8"/>
          <p:cNvSpPr/>
          <p:nvPr/>
        </p:nvSpPr>
        <p:spPr>
          <a:xfrm>
            <a:off x="6191250" y="1552575"/>
            <a:ext cx="8905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9FC3D6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БЫЛО ГИПОТЕЗОЙ</a:t>
            </a:r>
            <a:endParaRPr lang="en-US" sz="641" dirty="0"/>
          </a:p>
        </p:txBody>
      </p:sp>
      <p:sp>
        <p:nvSpPr>
          <p:cNvPr id="23" name="Text 19"/>
          <p:cNvSpPr/>
          <p:nvPr/>
        </p:nvSpPr>
        <p:spPr>
          <a:xfrm>
            <a:off x="6191250" y="1738313"/>
            <a:ext cx="2190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«Наша модель очков лучше прогноза FPL»</a:t>
            </a:r>
            <a:endParaRPr lang="en-US" sz="1140" dirty="0"/>
          </a:p>
        </p:txBody>
      </p:sp>
      <p:sp>
        <p:nvSpPr>
          <p:cNvPr id="24" name="Text 20"/>
          <p:cNvSpPr/>
          <p:nvPr/>
        </p:nvSpPr>
        <p:spPr>
          <a:xfrm>
            <a:off x="6191250" y="2252663"/>
            <a:ext cx="6000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kern="0" spc="51" dirty="0">
                <a:solidFill>
                  <a:srgbClr val="7DD3F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ОКАЗАЛОСЬ</a:t>
            </a:r>
            <a:endParaRPr lang="en-US" sz="641" dirty="0"/>
          </a:p>
        </p:txBody>
      </p:sp>
      <p:sp>
        <p:nvSpPr>
          <p:cNvPr id="25" name="Text 21"/>
          <p:cNvSpPr/>
          <p:nvPr/>
        </p:nvSpPr>
        <p:spPr>
          <a:xfrm>
            <a:off x="6191250" y="2428875"/>
            <a:ext cx="2190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926" dirty="0">
                <a:solidFill>
                  <a:srgbClr val="CFE3EE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живом GW5 ничья: MAE 1.146 против 1.166</a:t>
            </a:r>
            <a:endParaRPr lang="en-US" sz="926" dirty="0"/>
          </a:p>
        </p:txBody>
      </p:sp>
      <p:sp>
        <p:nvSpPr>
          <p:cNvPr id="26" name="Text 22"/>
          <p:cNvSpPr/>
          <p:nvPr/>
        </p:nvSpPr>
        <p:spPr>
          <a:xfrm>
            <a:off x="571500" y="3657599"/>
            <a:ext cx="6790997" cy="20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5"/>
              </a:lnSpc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Дальше: RAG по похожим игровым ситуациям · модель очков на истории 2016–2026 · </a:t>
            </a:r>
            <a:r>
              <a:rPr lang="en-US" sz="926" b="1" dirty="0" err="1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запасной</a:t>
            </a: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926" b="1" dirty="0" err="1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провайдер</a:t>
            </a: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LLM</a:t>
            </a:r>
            <a:endParaRPr lang="en-US" sz="92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38150"/>
            <a:ext cx="904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1"/>
              </a:lnSpc>
              <a:buNone/>
            </a:pPr>
            <a:r>
              <a:rPr lang="en-US" sz="784" b="1" kern="0" spc="94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ЗАПРОС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4"/>
              </a:lnSpc>
              <a:buNone/>
            </a:pPr>
            <a:r>
              <a:rPr lang="en-US" sz="228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«Should I sell Palmer?»</a:t>
            </a:r>
            <a:endParaRPr lang="en-US" sz="2280" dirty="0"/>
          </a:p>
        </p:txBody>
      </p:sp>
      <p:sp>
        <p:nvSpPr>
          <p:cNvPr id="5" name="Shape 2"/>
          <p:cNvSpPr/>
          <p:nvPr/>
        </p:nvSpPr>
        <p:spPr>
          <a:xfrm>
            <a:off x="904875" y="1981200"/>
            <a:ext cx="7334250" cy="38100"/>
          </a:xfrm>
          <a:prstGeom prst="roundRect">
            <a:avLst/>
          </a:prstGeom>
          <a:solidFill>
            <a:srgbClr val="D6E0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733425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733425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926" dirty="0"/>
          </a:p>
        </p:txBody>
      </p:sp>
      <p:sp>
        <p:nvSpPr>
          <p:cNvPr id="8" name="Text 5"/>
          <p:cNvSpPr/>
          <p:nvPr/>
        </p:nvSpPr>
        <p:spPr>
          <a:xfrm>
            <a:off x="500063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load_context</a:t>
            </a:r>
            <a:endParaRPr lang="en-US" sz="713" dirty="0"/>
          </a:p>
        </p:txBody>
      </p:sp>
      <p:sp>
        <p:nvSpPr>
          <p:cNvPr id="9" name="Text 6"/>
          <p:cNvSpPr/>
          <p:nvPr/>
        </p:nvSpPr>
        <p:spPr>
          <a:xfrm>
            <a:off x="500063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641" dirty="0"/>
          </a:p>
        </p:txBody>
      </p:sp>
      <p:sp>
        <p:nvSpPr>
          <p:cNvPr id="10" name="Shape 7"/>
          <p:cNvSpPr/>
          <p:nvPr/>
        </p:nvSpPr>
        <p:spPr>
          <a:xfrm>
            <a:off x="1547813" y="1828800"/>
            <a:ext cx="342900" cy="3429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1547813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926" dirty="0"/>
          </a:p>
        </p:txBody>
      </p:sp>
      <p:sp>
        <p:nvSpPr>
          <p:cNvPr id="12" name="Text 9"/>
          <p:cNvSpPr/>
          <p:nvPr/>
        </p:nvSpPr>
        <p:spPr>
          <a:xfrm>
            <a:off x="1314450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</a:t>
            </a:r>
            <a:endParaRPr lang="en-US" sz="713" dirty="0"/>
          </a:p>
        </p:txBody>
      </p:sp>
      <p:sp>
        <p:nvSpPr>
          <p:cNvPr id="13" name="Text 10"/>
          <p:cNvSpPr/>
          <p:nvPr/>
        </p:nvSpPr>
        <p:spPr>
          <a:xfrm>
            <a:off x="1314450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2362200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2362200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2128838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resolve</a:t>
            </a:r>
            <a:endParaRPr lang="en-US" sz="713" dirty="0"/>
          </a:p>
        </p:txBody>
      </p:sp>
      <p:sp>
        <p:nvSpPr>
          <p:cNvPr id="17" name="Text 14"/>
          <p:cNvSpPr/>
          <p:nvPr/>
        </p:nvSpPr>
        <p:spPr>
          <a:xfrm>
            <a:off x="2128838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641" dirty="0"/>
          </a:p>
        </p:txBody>
      </p:sp>
      <p:sp>
        <p:nvSpPr>
          <p:cNvPr id="18" name="Shape 15"/>
          <p:cNvSpPr/>
          <p:nvPr/>
        </p:nvSpPr>
        <p:spPr>
          <a:xfrm>
            <a:off x="3176588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3176588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26" dirty="0"/>
          </a:p>
        </p:txBody>
      </p:sp>
      <p:sp>
        <p:nvSpPr>
          <p:cNvPr id="20" name="Text 17"/>
          <p:cNvSpPr/>
          <p:nvPr/>
        </p:nvSpPr>
        <p:spPr>
          <a:xfrm>
            <a:off x="2943225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signals</a:t>
            </a:r>
            <a:endParaRPr lang="en-US" sz="713" dirty="0"/>
          </a:p>
        </p:txBody>
      </p:sp>
      <p:sp>
        <p:nvSpPr>
          <p:cNvPr id="21" name="Text 18"/>
          <p:cNvSpPr/>
          <p:nvPr/>
        </p:nvSpPr>
        <p:spPr>
          <a:xfrm>
            <a:off x="2943225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</a:t>
            </a:r>
            <a:endParaRPr lang="en-US" sz="641" dirty="0"/>
          </a:p>
        </p:txBody>
      </p:sp>
      <p:sp>
        <p:nvSpPr>
          <p:cNvPr id="22" name="Shape 19"/>
          <p:cNvSpPr/>
          <p:nvPr/>
        </p:nvSpPr>
        <p:spPr>
          <a:xfrm>
            <a:off x="3990975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3990975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926" dirty="0"/>
          </a:p>
        </p:txBody>
      </p:sp>
      <p:sp>
        <p:nvSpPr>
          <p:cNvPr id="24" name="Text 21"/>
          <p:cNvSpPr/>
          <p:nvPr/>
        </p:nvSpPr>
        <p:spPr>
          <a:xfrm>
            <a:off x="3757613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grade</a:t>
            </a:r>
            <a:endParaRPr lang="en-US" sz="713" dirty="0"/>
          </a:p>
        </p:txBody>
      </p:sp>
      <p:sp>
        <p:nvSpPr>
          <p:cNvPr id="25" name="Text 22"/>
          <p:cNvSpPr/>
          <p:nvPr/>
        </p:nvSpPr>
        <p:spPr>
          <a:xfrm>
            <a:off x="3757613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4805363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4805363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926" dirty="0"/>
          </a:p>
        </p:txBody>
      </p:sp>
      <p:sp>
        <p:nvSpPr>
          <p:cNvPr id="28" name="Text 25"/>
          <p:cNvSpPr/>
          <p:nvPr/>
        </p:nvSpPr>
        <p:spPr>
          <a:xfrm>
            <a:off x="4572000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</a:t>
            </a:r>
            <a:endParaRPr lang="en-US" sz="713" dirty="0"/>
          </a:p>
        </p:txBody>
      </p:sp>
      <p:sp>
        <p:nvSpPr>
          <p:cNvPr id="29" name="Text 26"/>
          <p:cNvSpPr/>
          <p:nvPr/>
        </p:nvSpPr>
        <p:spPr>
          <a:xfrm>
            <a:off x="4572000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MILP</a:t>
            </a:r>
            <a:endParaRPr lang="en-US" sz="641" dirty="0"/>
          </a:p>
        </p:txBody>
      </p:sp>
      <p:sp>
        <p:nvSpPr>
          <p:cNvPr id="30" name="Shape 27"/>
          <p:cNvSpPr/>
          <p:nvPr/>
        </p:nvSpPr>
        <p:spPr>
          <a:xfrm>
            <a:off x="5619750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5619750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926" dirty="0"/>
          </a:p>
        </p:txBody>
      </p:sp>
      <p:sp>
        <p:nvSpPr>
          <p:cNvPr id="32" name="Text 29"/>
          <p:cNvSpPr/>
          <p:nvPr/>
        </p:nvSpPr>
        <p:spPr>
          <a:xfrm>
            <a:off x="5386388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news</a:t>
            </a:r>
            <a:endParaRPr lang="en-US" sz="713" dirty="0"/>
          </a:p>
        </p:txBody>
      </p:sp>
      <p:sp>
        <p:nvSpPr>
          <p:cNvPr id="33" name="Text 30"/>
          <p:cNvSpPr/>
          <p:nvPr/>
        </p:nvSpPr>
        <p:spPr>
          <a:xfrm>
            <a:off x="5386388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</a:t>
            </a:r>
            <a:endParaRPr lang="en-US" sz="641" dirty="0"/>
          </a:p>
        </p:txBody>
      </p:sp>
      <p:sp>
        <p:nvSpPr>
          <p:cNvPr id="34" name="Shape 31"/>
          <p:cNvSpPr/>
          <p:nvPr/>
        </p:nvSpPr>
        <p:spPr>
          <a:xfrm>
            <a:off x="6434138" y="1828800"/>
            <a:ext cx="342900" cy="342900"/>
          </a:xfrm>
          <a:prstGeom prst="ellipse">
            <a:avLst/>
          </a:prstGeom>
          <a:solidFill>
            <a:srgbClr val="E5A50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6434138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926" dirty="0"/>
          </a:p>
        </p:txBody>
      </p:sp>
      <p:sp>
        <p:nvSpPr>
          <p:cNvPr id="36" name="Text 33"/>
          <p:cNvSpPr/>
          <p:nvPr/>
        </p:nvSpPr>
        <p:spPr>
          <a:xfrm>
            <a:off x="6200775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endParaRPr lang="en-US" sz="713" dirty="0"/>
          </a:p>
        </p:txBody>
      </p:sp>
      <p:sp>
        <p:nvSpPr>
          <p:cNvPr id="37" name="Text 34"/>
          <p:cNvSpPr/>
          <p:nvPr/>
        </p:nvSpPr>
        <p:spPr>
          <a:xfrm>
            <a:off x="6200775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B45309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HITL?</a:t>
            </a:r>
            <a:endParaRPr lang="en-US" sz="641" dirty="0"/>
          </a:p>
        </p:txBody>
      </p:sp>
      <p:sp>
        <p:nvSpPr>
          <p:cNvPr id="38" name="Shape 35"/>
          <p:cNvSpPr/>
          <p:nvPr/>
        </p:nvSpPr>
        <p:spPr>
          <a:xfrm>
            <a:off x="7248525" y="1828800"/>
            <a:ext cx="342900" cy="3429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7248525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926" dirty="0"/>
          </a:p>
        </p:txBody>
      </p:sp>
      <p:sp>
        <p:nvSpPr>
          <p:cNvPr id="40" name="Text 37"/>
          <p:cNvSpPr/>
          <p:nvPr/>
        </p:nvSpPr>
        <p:spPr>
          <a:xfrm>
            <a:off x="7015163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</a:t>
            </a:r>
            <a:endParaRPr lang="en-US" sz="713" dirty="0"/>
          </a:p>
        </p:txBody>
      </p:sp>
      <p:sp>
        <p:nvSpPr>
          <p:cNvPr id="41" name="Text 38"/>
          <p:cNvSpPr/>
          <p:nvPr/>
        </p:nvSpPr>
        <p:spPr>
          <a:xfrm>
            <a:off x="7015163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</a:t>
            </a:r>
            <a:endParaRPr lang="en-US" sz="641" dirty="0"/>
          </a:p>
        </p:txBody>
      </p:sp>
      <p:sp>
        <p:nvSpPr>
          <p:cNvPr id="42" name="Shape 39"/>
          <p:cNvSpPr/>
          <p:nvPr/>
        </p:nvSpPr>
        <p:spPr>
          <a:xfrm>
            <a:off x="8062913" y="1828800"/>
            <a:ext cx="342900" cy="342900"/>
          </a:xfrm>
          <a:prstGeom prst="ellipse">
            <a:avLst/>
          </a:prstGeom>
          <a:solidFill>
            <a:srgbClr val="0277B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8062913" y="1924050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5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926" dirty="0"/>
          </a:p>
        </p:txBody>
      </p:sp>
      <p:sp>
        <p:nvSpPr>
          <p:cNvPr id="44" name="Text 41"/>
          <p:cNvSpPr/>
          <p:nvPr/>
        </p:nvSpPr>
        <p:spPr>
          <a:xfrm>
            <a:off x="7829550" y="227647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1"/>
              </a:lnSpc>
              <a:buNone/>
            </a:pPr>
            <a:r>
              <a:rPr lang="en-US" sz="713" dirty="0">
                <a:solidFill>
                  <a:srgbClr val="12202A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endParaRPr lang="en-US" sz="713" dirty="0"/>
          </a:p>
        </p:txBody>
      </p:sp>
      <p:sp>
        <p:nvSpPr>
          <p:cNvPr id="45" name="Text 42"/>
          <p:cNvSpPr/>
          <p:nvPr/>
        </p:nvSpPr>
        <p:spPr>
          <a:xfrm>
            <a:off x="7829550" y="2438400"/>
            <a:ext cx="809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0277B8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641" dirty="0"/>
          </a:p>
        </p:txBody>
      </p:sp>
      <p:sp>
        <p:nvSpPr>
          <p:cNvPr id="46" name="Shape 43"/>
          <p:cNvSpPr/>
          <p:nvPr/>
        </p:nvSpPr>
        <p:spPr>
          <a:xfrm>
            <a:off x="571500" y="2905125"/>
            <a:ext cx="2476500" cy="1190625"/>
          </a:xfrm>
          <a:prstGeom prst="roundRect">
            <a:avLst>
              <a:gd name="adj" fmla="val 18432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781050" y="3095625"/>
            <a:ext cx="20955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72"/>
              </a:lnSpc>
              <a:buNone/>
            </a:pPr>
            <a:r>
              <a:rPr lang="en-US" sz="3420" b="1" dirty="0">
                <a:solidFill>
                  <a:srgbClr val="C2410C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3420" dirty="0"/>
          </a:p>
        </p:txBody>
      </p:sp>
      <p:sp>
        <p:nvSpPr>
          <p:cNvPr id="48" name="Text 45"/>
          <p:cNvSpPr/>
          <p:nvPr/>
        </p:nvSpPr>
        <p:spPr>
          <a:xfrm>
            <a:off x="781050" y="3724275"/>
            <a:ext cx="2095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3"/>
              </a:lnSpc>
              <a:buNone/>
            </a:pPr>
            <a:r>
              <a:rPr lang="en-US" sz="998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вызова LLM на вопрос</a:t>
            </a:r>
            <a:endParaRPr lang="en-US" sz="998" dirty="0"/>
          </a:p>
        </p:txBody>
      </p:sp>
      <p:sp>
        <p:nvSpPr>
          <p:cNvPr id="49" name="Shape 46"/>
          <p:cNvSpPr/>
          <p:nvPr/>
        </p:nvSpPr>
        <p:spPr>
          <a:xfrm>
            <a:off x="3333750" y="2905125"/>
            <a:ext cx="2476500" cy="1190625"/>
          </a:xfrm>
          <a:prstGeom prst="roundRect">
            <a:avLst>
              <a:gd name="adj" fmla="val 18432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7"/>
          <p:cNvSpPr/>
          <p:nvPr/>
        </p:nvSpPr>
        <p:spPr>
          <a:xfrm>
            <a:off x="3543300" y="3095625"/>
            <a:ext cx="20955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72"/>
              </a:lnSpc>
              <a:buNone/>
            </a:pPr>
            <a:r>
              <a:rPr lang="en-US" sz="342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$0.0026</a:t>
            </a:r>
            <a:endParaRPr lang="en-US" sz="3420" dirty="0"/>
          </a:p>
        </p:txBody>
      </p:sp>
      <p:sp>
        <p:nvSpPr>
          <p:cNvPr id="51" name="Text 48"/>
          <p:cNvSpPr/>
          <p:nvPr/>
        </p:nvSpPr>
        <p:spPr>
          <a:xfrm>
            <a:off x="3543300" y="3724275"/>
            <a:ext cx="2095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3"/>
              </a:lnSpc>
              <a:buNone/>
            </a:pPr>
            <a:r>
              <a:rPr lang="en-US" sz="998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среднем за вопрос</a:t>
            </a:r>
            <a:endParaRPr lang="en-US" sz="998" dirty="0"/>
          </a:p>
        </p:txBody>
      </p:sp>
      <p:sp>
        <p:nvSpPr>
          <p:cNvPr id="52" name="Shape 49"/>
          <p:cNvSpPr/>
          <p:nvPr/>
        </p:nvSpPr>
        <p:spPr>
          <a:xfrm>
            <a:off x="6096000" y="2905125"/>
            <a:ext cx="2476500" cy="1190625"/>
          </a:xfrm>
          <a:prstGeom prst="roundRect">
            <a:avLst>
              <a:gd name="adj" fmla="val 18432"/>
            </a:avLst>
          </a:prstGeom>
          <a:solidFill>
            <a:srgbClr val="FFFFFF"/>
          </a:solidFill>
          <a:ln w="9049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0"/>
          <p:cNvSpPr/>
          <p:nvPr/>
        </p:nvSpPr>
        <p:spPr>
          <a:xfrm>
            <a:off x="6305550" y="3095625"/>
            <a:ext cx="20955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72"/>
              </a:lnSpc>
              <a:buNone/>
            </a:pPr>
            <a:r>
              <a:rPr lang="en-US" sz="3420" b="1" dirty="0">
                <a:solidFill>
                  <a:srgbClr val="12202A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7.5 с</a:t>
            </a:r>
            <a:endParaRPr lang="en-US" sz="3420" dirty="0"/>
          </a:p>
        </p:txBody>
      </p:sp>
      <p:sp>
        <p:nvSpPr>
          <p:cNvPr id="54" name="Text 51"/>
          <p:cNvSpPr/>
          <p:nvPr/>
        </p:nvSpPr>
        <p:spPr>
          <a:xfrm>
            <a:off x="6305550" y="3724275"/>
            <a:ext cx="2095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3"/>
              </a:lnSpc>
              <a:buNone/>
            </a:pPr>
            <a:r>
              <a:rPr lang="en-US" sz="998" dirty="0">
                <a:solidFill>
                  <a:srgbClr val="3B4B55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медиана ответа</a:t>
            </a:r>
            <a:endParaRPr lang="en-US" sz="998" dirty="0"/>
          </a:p>
        </p:txBody>
      </p:sp>
      <p:sp>
        <p:nvSpPr>
          <p:cNvPr id="55" name="Text 52"/>
          <p:cNvSpPr/>
          <p:nvPr/>
        </p:nvSpPr>
        <p:spPr>
          <a:xfrm>
            <a:off x="571500" y="4219575"/>
            <a:ext cx="19573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3"/>
              </a:lnSpc>
              <a:buNone/>
            </a:pPr>
            <a:r>
              <a:rPr lang="en-US" sz="713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средние по 60 вопросам чата · p95 — 14.8 с</a:t>
            </a:r>
            <a:endParaRPr lang="en-US" sz="713" dirty="0"/>
          </a:p>
        </p:txBody>
      </p:sp>
      <p:sp>
        <p:nvSpPr>
          <p:cNvPr id="56" name="Text 53"/>
          <p:cNvSpPr/>
          <p:nvPr/>
        </p:nvSpPr>
        <p:spPr>
          <a:xfrm>
            <a:off x="571500" y="4829175"/>
            <a:ext cx="4572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FPL Copilot</a:t>
            </a:r>
            <a:endParaRPr lang="en-US" sz="641" dirty="0"/>
          </a:p>
        </p:txBody>
      </p:sp>
      <p:sp>
        <p:nvSpPr>
          <p:cNvPr id="57" name="Text 54"/>
          <p:cNvSpPr/>
          <p:nvPr/>
        </p:nvSpPr>
        <p:spPr>
          <a:xfrm>
            <a:off x="8096250" y="4829175"/>
            <a:ext cx="47625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76"/>
              </a:lnSpc>
              <a:buNone/>
            </a:pPr>
            <a:r>
              <a:rPr lang="en-US" sz="641" b="1" dirty="0">
                <a:solidFill>
                  <a:srgbClr val="667883">
                    <a:alpha val="99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запасной</a:t>
            </a:r>
            <a:endParaRPr lang="en-US" sz="64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2121</Words>
  <Application>Microsoft Macintosh PowerPoint</Application>
  <PresentationFormat>Экран (16:9)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Manrope</vt:lpstr>
      <vt:lpstr>JetBrains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Zhanibek Kairgeldinov</cp:lastModifiedBy>
  <cp:revision>2</cp:revision>
  <dcterms:created xsi:type="dcterms:W3CDTF">2026-09-25T17:57:12Z</dcterms:created>
  <dcterms:modified xsi:type="dcterms:W3CDTF">2026-09-25T18:04:42Z</dcterms:modified>
</cp:coreProperties>
</file>